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3" r:id="rId1"/>
    <p:sldMasterId id="2147483714" r:id="rId2"/>
  </p:sldMasterIdLst>
  <p:sldIdLst>
    <p:sldId id="256" r:id="rId3"/>
    <p:sldId id="257" r:id="rId4"/>
    <p:sldId id="258" r:id="rId5"/>
    <p:sldId id="259" r:id="rId6"/>
    <p:sldId id="260" r:id="rId7"/>
    <p:sldId id="262" r:id="rId8"/>
    <p:sldId id="261" r:id="rId9"/>
    <p:sldId id="263" r:id="rId10"/>
    <p:sldId id="264" r:id="rId11"/>
    <p:sldId id="265" r:id="rId12"/>
    <p:sldId id="266" r:id="rId13"/>
    <p:sldId id="267"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99" autoAdjust="0"/>
    <p:restoredTop sz="94660"/>
  </p:normalViewPr>
  <p:slideViewPr>
    <p:cSldViewPr snapToGrid="0">
      <p:cViewPr>
        <p:scale>
          <a:sx n="76" d="100"/>
          <a:sy n="76" d="100"/>
        </p:scale>
        <p:origin x="33" y="2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E8EDBE1-2774-49A0-A73A-76DEC94247AF}" type="doc">
      <dgm:prSet loTypeId="urn:microsoft.com/office/officeart/2005/8/layout/list1" loCatId="list" qsTypeId="urn:microsoft.com/office/officeart/2005/8/quickstyle/simple1" qsCatId="simple" csTypeId="urn:microsoft.com/office/officeart/2005/8/colors/accent1_2" csCatId="accent1"/>
      <dgm:spPr/>
      <dgm:t>
        <a:bodyPr/>
        <a:lstStyle/>
        <a:p>
          <a:endParaRPr lang="en-US"/>
        </a:p>
      </dgm:t>
    </dgm:pt>
    <dgm:pt modelId="{BED27865-C824-4B64-B13D-7FFFEE436755}">
      <dgm:prSet/>
      <dgm:spPr/>
      <dgm:t>
        <a:bodyPr/>
        <a:lstStyle/>
        <a:p>
          <a:r>
            <a:rPr lang="ru-RU" dirty="0"/>
            <a:t>Пребарување по широчина (BFS):</a:t>
          </a:r>
          <a:endParaRPr lang="en-US" dirty="0"/>
        </a:p>
      </dgm:t>
    </dgm:pt>
    <dgm:pt modelId="{A852CC95-9111-4D9F-B6B7-075E8B45871E}" type="parTrans" cxnId="{34DBA6DA-2426-4732-8A55-72906CDA1318}">
      <dgm:prSet/>
      <dgm:spPr/>
      <dgm:t>
        <a:bodyPr/>
        <a:lstStyle/>
        <a:p>
          <a:endParaRPr lang="en-US"/>
        </a:p>
      </dgm:t>
    </dgm:pt>
    <dgm:pt modelId="{B05596BA-6FA8-471C-A525-9BBB9E655A05}" type="sibTrans" cxnId="{34DBA6DA-2426-4732-8A55-72906CDA1318}">
      <dgm:prSet/>
      <dgm:spPr/>
      <dgm:t>
        <a:bodyPr/>
        <a:lstStyle/>
        <a:p>
          <a:endParaRPr lang="en-US"/>
        </a:p>
      </dgm:t>
    </dgm:pt>
    <dgm:pt modelId="{3FF80076-3196-414C-AAFD-4530E8581ED5}">
      <dgm:prSet/>
      <dgm:spPr/>
      <dgm:t>
        <a:bodyPr/>
        <a:lstStyle/>
        <a:p>
          <a:r>
            <a:rPr lang="ru-RU"/>
            <a:t>Ги истражува сите соседни јазли пред да се движи подлабоко. Го гарантира најкраткиот пат во бестежински граф.</a:t>
          </a:r>
          <a:endParaRPr lang="en-US"/>
        </a:p>
      </dgm:t>
    </dgm:pt>
    <dgm:pt modelId="{5450B7B6-9053-4EF2-83AC-90D6D2305EC7}" type="parTrans" cxnId="{54057403-9617-428D-AA26-760563D2500F}">
      <dgm:prSet/>
      <dgm:spPr/>
      <dgm:t>
        <a:bodyPr/>
        <a:lstStyle/>
        <a:p>
          <a:endParaRPr lang="en-US"/>
        </a:p>
      </dgm:t>
    </dgm:pt>
    <dgm:pt modelId="{23BEDDBC-A833-474A-9A36-9C88430B3633}" type="sibTrans" cxnId="{54057403-9617-428D-AA26-760563D2500F}">
      <dgm:prSet/>
      <dgm:spPr/>
      <dgm:t>
        <a:bodyPr/>
        <a:lstStyle/>
        <a:p>
          <a:endParaRPr lang="en-US"/>
        </a:p>
      </dgm:t>
    </dgm:pt>
    <dgm:pt modelId="{B8557ECC-08CE-4187-A8CE-591DCD941AF6}">
      <dgm:prSet/>
      <dgm:spPr/>
      <dgm:t>
        <a:bodyPr/>
        <a:lstStyle/>
        <a:p>
          <a:r>
            <a:rPr lang="ru-RU"/>
            <a:t>Прво пребарување на длабочина (DFS):</a:t>
          </a:r>
          <a:endParaRPr lang="en-US"/>
        </a:p>
      </dgm:t>
    </dgm:pt>
    <dgm:pt modelId="{3D53687D-52CF-4340-81D3-C8E04DCB038A}" type="parTrans" cxnId="{50BEC252-FDF2-455D-8240-CFC4E6CA8CAB}">
      <dgm:prSet/>
      <dgm:spPr/>
      <dgm:t>
        <a:bodyPr/>
        <a:lstStyle/>
        <a:p>
          <a:endParaRPr lang="en-US"/>
        </a:p>
      </dgm:t>
    </dgm:pt>
    <dgm:pt modelId="{851E6EF1-EE24-46D7-A0AF-D85E6F453877}" type="sibTrans" cxnId="{50BEC252-FDF2-455D-8240-CFC4E6CA8CAB}">
      <dgm:prSet/>
      <dgm:spPr/>
      <dgm:t>
        <a:bodyPr/>
        <a:lstStyle/>
        <a:p>
          <a:endParaRPr lang="en-US"/>
        </a:p>
      </dgm:t>
    </dgm:pt>
    <dgm:pt modelId="{722B4852-50F9-4DAA-BF1A-767A15AC5133}">
      <dgm:prSet/>
      <dgm:spPr/>
      <dgm:t>
        <a:bodyPr/>
        <a:lstStyle/>
        <a:p>
          <a:r>
            <a:rPr lang="ru-RU"/>
            <a:t>Истражува што е можно подлабоко пред да се врати назад. Не е оптимално за најкратката патека, но корисно за одредени однесувања со вештачка интелигенција.</a:t>
          </a:r>
          <a:endParaRPr lang="en-US"/>
        </a:p>
      </dgm:t>
    </dgm:pt>
    <dgm:pt modelId="{BFFF6644-E218-4B45-938A-B5B792FA4846}" type="parTrans" cxnId="{6F4F1F5D-02D4-4886-9CAF-42B8D7ADAA43}">
      <dgm:prSet/>
      <dgm:spPr/>
      <dgm:t>
        <a:bodyPr/>
        <a:lstStyle/>
        <a:p>
          <a:endParaRPr lang="en-US"/>
        </a:p>
      </dgm:t>
    </dgm:pt>
    <dgm:pt modelId="{A9D695A5-03DE-454A-AD2F-4F9DF9E34CC4}" type="sibTrans" cxnId="{6F4F1F5D-02D4-4886-9CAF-42B8D7ADAA43}">
      <dgm:prSet/>
      <dgm:spPr/>
      <dgm:t>
        <a:bodyPr/>
        <a:lstStyle/>
        <a:p>
          <a:endParaRPr lang="en-US"/>
        </a:p>
      </dgm:t>
    </dgm:pt>
    <dgm:pt modelId="{643A352A-FF65-4DD3-B67D-712D9F103F78}" type="pres">
      <dgm:prSet presAssocID="{8E8EDBE1-2774-49A0-A73A-76DEC94247AF}" presName="linear" presStyleCnt="0">
        <dgm:presLayoutVars>
          <dgm:dir/>
          <dgm:animLvl val="lvl"/>
          <dgm:resizeHandles val="exact"/>
        </dgm:presLayoutVars>
      </dgm:prSet>
      <dgm:spPr/>
    </dgm:pt>
    <dgm:pt modelId="{4A8E0FDA-B56D-4A5A-A828-9D0CAC2E84BB}" type="pres">
      <dgm:prSet presAssocID="{BED27865-C824-4B64-B13D-7FFFEE436755}" presName="parentLin" presStyleCnt="0"/>
      <dgm:spPr/>
    </dgm:pt>
    <dgm:pt modelId="{36E16D59-4F3E-4FFF-9C2C-915E9E82247F}" type="pres">
      <dgm:prSet presAssocID="{BED27865-C824-4B64-B13D-7FFFEE436755}" presName="parentLeftMargin" presStyleLbl="node1" presStyleIdx="0" presStyleCnt="2"/>
      <dgm:spPr/>
    </dgm:pt>
    <dgm:pt modelId="{C58586B3-A636-4FDF-B9F4-009899484457}" type="pres">
      <dgm:prSet presAssocID="{BED27865-C824-4B64-B13D-7FFFEE436755}" presName="parentText" presStyleLbl="node1" presStyleIdx="0" presStyleCnt="2">
        <dgm:presLayoutVars>
          <dgm:chMax val="0"/>
          <dgm:bulletEnabled val="1"/>
        </dgm:presLayoutVars>
      </dgm:prSet>
      <dgm:spPr/>
    </dgm:pt>
    <dgm:pt modelId="{A7724E06-8B03-4A74-B085-CD98FBF76168}" type="pres">
      <dgm:prSet presAssocID="{BED27865-C824-4B64-B13D-7FFFEE436755}" presName="negativeSpace" presStyleCnt="0"/>
      <dgm:spPr/>
    </dgm:pt>
    <dgm:pt modelId="{05B04F2E-E255-4346-94A5-A0130639A186}" type="pres">
      <dgm:prSet presAssocID="{BED27865-C824-4B64-B13D-7FFFEE436755}" presName="childText" presStyleLbl="conFgAcc1" presStyleIdx="0" presStyleCnt="2">
        <dgm:presLayoutVars>
          <dgm:bulletEnabled val="1"/>
        </dgm:presLayoutVars>
      </dgm:prSet>
      <dgm:spPr/>
    </dgm:pt>
    <dgm:pt modelId="{F56FCEE9-A2CC-4154-B362-6015971A4CF8}" type="pres">
      <dgm:prSet presAssocID="{B05596BA-6FA8-471C-A525-9BBB9E655A05}" presName="spaceBetweenRectangles" presStyleCnt="0"/>
      <dgm:spPr/>
    </dgm:pt>
    <dgm:pt modelId="{4A10EEDB-740C-4107-A7C4-7C37D3164757}" type="pres">
      <dgm:prSet presAssocID="{B8557ECC-08CE-4187-A8CE-591DCD941AF6}" presName="parentLin" presStyleCnt="0"/>
      <dgm:spPr/>
    </dgm:pt>
    <dgm:pt modelId="{036BE4D6-1C5E-4EDD-9F24-CE9A9C270ED5}" type="pres">
      <dgm:prSet presAssocID="{B8557ECC-08CE-4187-A8CE-591DCD941AF6}" presName="parentLeftMargin" presStyleLbl="node1" presStyleIdx="0" presStyleCnt="2"/>
      <dgm:spPr/>
    </dgm:pt>
    <dgm:pt modelId="{E1A47703-5494-4589-8E4F-A80516C5A8E3}" type="pres">
      <dgm:prSet presAssocID="{B8557ECC-08CE-4187-A8CE-591DCD941AF6}" presName="parentText" presStyleLbl="node1" presStyleIdx="1" presStyleCnt="2">
        <dgm:presLayoutVars>
          <dgm:chMax val="0"/>
          <dgm:bulletEnabled val="1"/>
        </dgm:presLayoutVars>
      </dgm:prSet>
      <dgm:spPr/>
    </dgm:pt>
    <dgm:pt modelId="{DC02AFD9-E460-4B6C-8628-8B3FB921E45E}" type="pres">
      <dgm:prSet presAssocID="{B8557ECC-08CE-4187-A8CE-591DCD941AF6}" presName="negativeSpace" presStyleCnt="0"/>
      <dgm:spPr/>
    </dgm:pt>
    <dgm:pt modelId="{EA774430-B408-43DF-AC4A-D1C1BF703B77}" type="pres">
      <dgm:prSet presAssocID="{B8557ECC-08CE-4187-A8CE-591DCD941AF6}" presName="childText" presStyleLbl="conFgAcc1" presStyleIdx="1" presStyleCnt="2">
        <dgm:presLayoutVars>
          <dgm:bulletEnabled val="1"/>
        </dgm:presLayoutVars>
      </dgm:prSet>
      <dgm:spPr/>
    </dgm:pt>
  </dgm:ptLst>
  <dgm:cxnLst>
    <dgm:cxn modelId="{54057403-9617-428D-AA26-760563D2500F}" srcId="{BED27865-C824-4B64-B13D-7FFFEE436755}" destId="{3FF80076-3196-414C-AAFD-4530E8581ED5}" srcOrd="0" destOrd="0" parTransId="{5450B7B6-9053-4EF2-83AC-90D6D2305EC7}" sibTransId="{23BEDDBC-A833-474A-9A36-9C88430B3633}"/>
    <dgm:cxn modelId="{7150550F-7C4F-4FBE-8D2E-7BCB89D72E71}" type="presOf" srcId="{BED27865-C824-4B64-B13D-7FFFEE436755}" destId="{36E16D59-4F3E-4FFF-9C2C-915E9E82247F}" srcOrd="0" destOrd="0" presId="urn:microsoft.com/office/officeart/2005/8/layout/list1"/>
    <dgm:cxn modelId="{6F4F1F5D-02D4-4886-9CAF-42B8D7ADAA43}" srcId="{B8557ECC-08CE-4187-A8CE-591DCD941AF6}" destId="{722B4852-50F9-4DAA-BF1A-767A15AC5133}" srcOrd="0" destOrd="0" parTransId="{BFFF6644-E218-4B45-938A-B5B792FA4846}" sibTransId="{A9D695A5-03DE-454A-AD2F-4F9DF9E34CC4}"/>
    <dgm:cxn modelId="{B03B3F6B-C06E-4752-A8A2-CFAAA4F23195}" type="presOf" srcId="{8E8EDBE1-2774-49A0-A73A-76DEC94247AF}" destId="{643A352A-FF65-4DD3-B67D-712D9F103F78}" srcOrd="0" destOrd="0" presId="urn:microsoft.com/office/officeart/2005/8/layout/list1"/>
    <dgm:cxn modelId="{DC07F46B-08CA-4D15-A6DA-F624C32C957F}" type="presOf" srcId="{B8557ECC-08CE-4187-A8CE-591DCD941AF6}" destId="{036BE4D6-1C5E-4EDD-9F24-CE9A9C270ED5}" srcOrd="0" destOrd="0" presId="urn:microsoft.com/office/officeart/2005/8/layout/list1"/>
    <dgm:cxn modelId="{50BEC252-FDF2-455D-8240-CFC4E6CA8CAB}" srcId="{8E8EDBE1-2774-49A0-A73A-76DEC94247AF}" destId="{B8557ECC-08CE-4187-A8CE-591DCD941AF6}" srcOrd="1" destOrd="0" parTransId="{3D53687D-52CF-4340-81D3-C8E04DCB038A}" sibTransId="{851E6EF1-EE24-46D7-A0AF-D85E6F453877}"/>
    <dgm:cxn modelId="{85D0C381-5223-4D5C-8665-73027D656782}" type="presOf" srcId="{B8557ECC-08CE-4187-A8CE-591DCD941AF6}" destId="{E1A47703-5494-4589-8E4F-A80516C5A8E3}" srcOrd="1" destOrd="0" presId="urn:microsoft.com/office/officeart/2005/8/layout/list1"/>
    <dgm:cxn modelId="{CB1EBD87-5A44-4464-82B2-98B1C309106A}" type="presOf" srcId="{722B4852-50F9-4DAA-BF1A-767A15AC5133}" destId="{EA774430-B408-43DF-AC4A-D1C1BF703B77}" srcOrd="0" destOrd="0" presId="urn:microsoft.com/office/officeart/2005/8/layout/list1"/>
    <dgm:cxn modelId="{008631A7-26CD-4CC1-B756-F028006C5E4D}" type="presOf" srcId="{BED27865-C824-4B64-B13D-7FFFEE436755}" destId="{C58586B3-A636-4FDF-B9F4-009899484457}" srcOrd="1" destOrd="0" presId="urn:microsoft.com/office/officeart/2005/8/layout/list1"/>
    <dgm:cxn modelId="{34DBA6DA-2426-4732-8A55-72906CDA1318}" srcId="{8E8EDBE1-2774-49A0-A73A-76DEC94247AF}" destId="{BED27865-C824-4B64-B13D-7FFFEE436755}" srcOrd="0" destOrd="0" parTransId="{A852CC95-9111-4D9F-B6B7-075E8B45871E}" sibTransId="{B05596BA-6FA8-471C-A525-9BBB9E655A05}"/>
    <dgm:cxn modelId="{AB65C5DC-6C8C-4CD3-84C6-E570426EB24B}" type="presOf" srcId="{3FF80076-3196-414C-AAFD-4530E8581ED5}" destId="{05B04F2E-E255-4346-94A5-A0130639A186}" srcOrd="0" destOrd="0" presId="urn:microsoft.com/office/officeart/2005/8/layout/list1"/>
    <dgm:cxn modelId="{3CE6C71A-C688-43D5-BE99-67D3A3A6C0FF}" type="presParOf" srcId="{643A352A-FF65-4DD3-B67D-712D9F103F78}" destId="{4A8E0FDA-B56D-4A5A-A828-9D0CAC2E84BB}" srcOrd="0" destOrd="0" presId="urn:microsoft.com/office/officeart/2005/8/layout/list1"/>
    <dgm:cxn modelId="{B2B8539D-67F3-4F86-83A2-86D69826D7F1}" type="presParOf" srcId="{4A8E0FDA-B56D-4A5A-A828-9D0CAC2E84BB}" destId="{36E16D59-4F3E-4FFF-9C2C-915E9E82247F}" srcOrd="0" destOrd="0" presId="urn:microsoft.com/office/officeart/2005/8/layout/list1"/>
    <dgm:cxn modelId="{7ADCA937-D5EF-410B-A6EB-67EFF59745A6}" type="presParOf" srcId="{4A8E0FDA-B56D-4A5A-A828-9D0CAC2E84BB}" destId="{C58586B3-A636-4FDF-B9F4-009899484457}" srcOrd="1" destOrd="0" presId="urn:microsoft.com/office/officeart/2005/8/layout/list1"/>
    <dgm:cxn modelId="{A8BB965F-AAA0-4914-8CF8-ECF7EE3E1FD5}" type="presParOf" srcId="{643A352A-FF65-4DD3-B67D-712D9F103F78}" destId="{A7724E06-8B03-4A74-B085-CD98FBF76168}" srcOrd="1" destOrd="0" presId="urn:microsoft.com/office/officeart/2005/8/layout/list1"/>
    <dgm:cxn modelId="{EB00504C-0F41-4906-8F71-DD6662083904}" type="presParOf" srcId="{643A352A-FF65-4DD3-B67D-712D9F103F78}" destId="{05B04F2E-E255-4346-94A5-A0130639A186}" srcOrd="2" destOrd="0" presId="urn:microsoft.com/office/officeart/2005/8/layout/list1"/>
    <dgm:cxn modelId="{D8252FE9-E6FA-4A39-BB89-37B1D8619F4A}" type="presParOf" srcId="{643A352A-FF65-4DD3-B67D-712D9F103F78}" destId="{F56FCEE9-A2CC-4154-B362-6015971A4CF8}" srcOrd="3" destOrd="0" presId="urn:microsoft.com/office/officeart/2005/8/layout/list1"/>
    <dgm:cxn modelId="{B6C07FF6-E95C-4A1E-BFD7-F2F1EAED2F21}" type="presParOf" srcId="{643A352A-FF65-4DD3-B67D-712D9F103F78}" destId="{4A10EEDB-740C-4107-A7C4-7C37D3164757}" srcOrd="4" destOrd="0" presId="urn:microsoft.com/office/officeart/2005/8/layout/list1"/>
    <dgm:cxn modelId="{B066FF85-EC36-4504-B217-BCE5398D9100}" type="presParOf" srcId="{4A10EEDB-740C-4107-A7C4-7C37D3164757}" destId="{036BE4D6-1C5E-4EDD-9F24-CE9A9C270ED5}" srcOrd="0" destOrd="0" presId="urn:microsoft.com/office/officeart/2005/8/layout/list1"/>
    <dgm:cxn modelId="{3E9CC480-1063-4552-B4AB-C916E565FDFA}" type="presParOf" srcId="{4A10EEDB-740C-4107-A7C4-7C37D3164757}" destId="{E1A47703-5494-4589-8E4F-A80516C5A8E3}" srcOrd="1" destOrd="0" presId="urn:microsoft.com/office/officeart/2005/8/layout/list1"/>
    <dgm:cxn modelId="{806DF1E8-DCAC-4706-9FCE-5DF6652981A3}" type="presParOf" srcId="{643A352A-FF65-4DD3-B67D-712D9F103F78}" destId="{DC02AFD9-E460-4B6C-8628-8B3FB921E45E}" srcOrd="5" destOrd="0" presId="urn:microsoft.com/office/officeart/2005/8/layout/list1"/>
    <dgm:cxn modelId="{1FC60BFB-D7F9-41B5-8F97-5196A51E4286}" type="presParOf" srcId="{643A352A-FF65-4DD3-B67D-712D9F103F78}" destId="{EA774430-B408-43DF-AC4A-D1C1BF703B77}"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B04F2E-E255-4346-94A5-A0130639A186}">
      <dsp:nvSpPr>
        <dsp:cNvPr id="0" name=""/>
        <dsp:cNvSpPr/>
      </dsp:nvSpPr>
      <dsp:spPr>
        <a:xfrm>
          <a:off x="0" y="1256332"/>
          <a:ext cx="6967728" cy="1346625"/>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40773" tIns="395732" rIns="540773" bIns="135128" numCol="1" spcCol="1270" anchor="t" anchorCtr="0">
          <a:noAutofit/>
        </a:bodyPr>
        <a:lstStyle/>
        <a:p>
          <a:pPr marL="171450" lvl="1" indent="-171450" algn="l" defTabSz="844550">
            <a:lnSpc>
              <a:spcPct val="90000"/>
            </a:lnSpc>
            <a:spcBef>
              <a:spcPct val="0"/>
            </a:spcBef>
            <a:spcAft>
              <a:spcPct val="15000"/>
            </a:spcAft>
            <a:buChar char="•"/>
          </a:pPr>
          <a:r>
            <a:rPr lang="ru-RU" sz="1900" kern="1200"/>
            <a:t>Ги истражува сите соседни јазли пред да се движи подлабоко. Го гарантира најкраткиот пат во бестежински граф.</a:t>
          </a:r>
          <a:endParaRPr lang="en-US" sz="1900" kern="1200"/>
        </a:p>
      </dsp:txBody>
      <dsp:txXfrm>
        <a:off x="0" y="1256332"/>
        <a:ext cx="6967728" cy="1346625"/>
      </dsp:txXfrm>
    </dsp:sp>
    <dsp:sp modelId="{C58586B3-A636-4FDF-B9F4-009899484457}">
      <dsp:nvSpPr>
        <dsp:cNvPr id="0" name=""/>
        <dsp:cNvSpPr/>
      </dsp:nvSpPr>
      <dsp:spPr>
        <a:xfrm>
          <a:off x="348386" y="975892"/>
          <a:ext cx="4877409" cy="5608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354" tIns="0" rIns="184354" bIns="0" numCol="1" spcCol="1270" anchor="ctr" anchorCtr="0">
          <a:noAutofit/>
        </a:bodyPr>
        <a:lstStyle/>
        <a:p>
          <a:pPr marL="0" lvl="0" indent="0" algn="l" defTabSz="844550">
            <a:lnSpc>
              <a:spcPct val="90000"/>
            </a:lnSpc>
            <a:spcBef>
              <a:spcPct val="0"/>
            </a:spcBef>
            <a:spcAft>
              <a:spcPct val="35000"/>
            </a:spcAft>
            <a:buNone/>
          </a:pPr>
          <a:r>
            <a:rPr lang="ru-RU" sz="1900" kern="1200" dirty="0"/>
            <a:t>Пребарување по широчина (BFS):</a:t>
          </a:r>
          <a:endParaRPr lang="en-US" sz="1900" kern="1200" dirty="0"/>
        </a:p>
      </dsp:txBody>
      <dsp:txXfrm>
        <a:off x="375766" y="1003272"/>
        <a:ext cx="4822649" cy="506120"/>
      </dsp:txXfrm>
    </dsp:sp>
    <dsp:sp modelId="{EA774430-B408-43DF-AC4A-D1C1BF703B77}">
      <dsp:nvSpPr>
        <dsp:cNvPr id="0" name=""/>
        <dsp:cNvSpPr/>
      </dsp:nvSpPr>
      <dsp:spPr>
        <a:xfrm>
          <a:off x="0" y="2985997"/>
          <a:ext cx="6967728" cy="161595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40773" tIns="395732" rIns="540773" bIns="135128" numCol="1" spcCol="1270" anchor="t" anchorCtr="0">
          <a:noAutofit/>
        </a:bodyPr>
        <a:lstStyle/>
        <a:p>
          <a:pPr marL="171450" lvl="1" indent="-171450" algn="l" defTabSz="844550">
            <a:lnSpc>
              <a:spcPct val="90000"/>
            </a:lnSpc>
            <a:spcBef>
              <a:spcPct val="0"/>
            </a:spcBef>
            <a:spcAft>
              <a:spcPct val="15000"/>
            </a:spcAft>
            <a:buChar char="•"/>
          </a:pPr>
          <a:r>
            <a:rPr lang="ru-RU" sz="1900" kern="1200"/>
            <a:t>Истражува што е можно подлабоко пред да се врати назад. Не е оптимално за најкратката патека, но корисно за одредени однесувања со вештачка интелигенција.</a:t>
          </a:r>
          <a:endParaRPr lang="en-US" sz="1900" kern="1200"/>
        </a:p>
      </dsp:txBody>
      <dsp:txXfrm>
        <a:off x="0" y="2985997"/>
        <a:ext cx="6967728" cy="1615950"/>
      </dsp:txXfrm>
    </dsp:sp>
    <dsp:sp modelId="{E1A47703-5494-4589-8E4F-A80516C5A8E3}">
      <dsp:nvSpPr>
        <dsp:cNvPr id="0" name=""/>
        <dsp:cNvSpPr/>
      </dsp:nvSpPr>
      <dsp:spPr>
        <a:xfrm>
          <a:off x="348386" y="2705557"/>
          <a:ext cx="4877409" cy="5608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354" tIns="0" rIns="184354" bIns="0" numCol="1" spcCol="1270" anchor="ctr" anchorCtr="0">
          <a:noAutofit/>
        </a:bodyPr>
        <a:lstStyle/>
        <a:p>
          <a:pPr marL="0" lvl="0" indent="0" algn="l" defTabSz="844550">
            <a:lnSpc>
              <a:spcPct val="90000"/>
            </a:lnSpc>
            <a:spcBef>
              <a:spcPct val="0"/>
            </a:spcBef>
            <a:spcAft>
              <a:spcPct val="35000"/>
            </a:spcAft>
            <a:buNone/>
          </a:pPr>
          <a:r>
            <a:rPr lang="ru-RU" sz="1900" kern="1200"/>
            <a:t>Прво пребарување на длабочина (DFS):</a:t>
          </a:r>
          <a:endParaRPr lang="en-US" sz="1900" kern="1200"/>
        </a:p>
      </dsp:txBody>
      <dsp:txXfrm>
        <a:off x="375766" y="2732937"/>
        <a:ext cx="4822649" cy="506120"/>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576072" y="1124712"/>
            <a:ext cx="11036808" cy="3172968"/>
          </a:xfrm>
        </p:spPr>
        <p:txBody>
          <a:bodyPr anchor="b">
            <a:normAutofit/>
          </a:bodyPr>
          <a:lstStyle>
            <a:lvl1pPr algn="l">
              <a:defRPr sz="8000"/>
            </a:lvl1pPr>
          </a:lstStyle>
          <a:p>
            <a:r>
              <a:rPr lang="en-US" dirty="0"/>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576072" y="4727448"/>
            <a:ext cx="11036808" cy="1481328"/>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1B9FF558-51F9-42A2-9944-DBE23DA8B224}"/>
              </a:ext>
            </a:extLst>
          </p:cNvPr>
          <p:cNvSpPr>
            <a:spLocks noGrp="1"/>
          </p:cNvSpPr>
          <p:nvPr>
            <p:ph type="dt" sz="half" idx="10"/>
          </p:nvPr>
        </p:nvSpPr>
        <p:spPr>
          <a:xfrm>
            <a:off x="576072" y="6356350"/>
            <a:ext cx="2743200" cy="365125"/>
          </a:xfrm>
        </p:spPr>
        <p:txBody>
          <a:bodyPr/>
          <a:lstStyle/>
          <a:p>
            <a:fld id="{02AC24A9-CCB6-4F8D-B8DB-C2F3692CFA5A}" type="datetimeFigureOut">
              <a:rPr lang="en-US" smtClean="0"/>
              <a:t>2/11/2025</a:t>
            </a:fld>
            <a:endParaRPr lang="en-US" dirty="0"/>
          </a:p>
        </p:txBody>
      </p:sp>
      <p:sp>
        <p:nvSpPr>
          <p:cNvPr id="5" name="Footer Placeholder 4">
            <a:extLst>
              <a:ext uri="{FF2B5EF4-FFF2-40B4-BE49-F238E27FC236}">
                <a16:creationId xmlns:a16="http://schemas.microsoft.com/office/drawing/2014/main" id="{8B8C0E86-A7F7-4BDC-A637-254E5252DED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3D10ADE-E9DA-4E57-BF57-1CCB65219839}"/>
              </a:ext>
            </a:extLst>
          </p:cNvPr>
          <p:cNvSpPr>
            <a:spLocks noGrp="1"/>
          </p:cNvSpPr>
          <p:nvPr>
            <p:ph type="sldNum" sz="quarter" idx="12"/>
          </p:nvPr>
        </p:nvSpPr>
        <p:spPr>
          <a:xfrm>
            <a:off x="8869680" y="6356350"/>
            <a:ext cx="2743200" cy="365125"/>
          </a:xfrm>
        </p:spPr>
        <p:txBody>
          <a:bodyPr/>
          <a:lstStyle/>
          <a:p>
            <a:fld id="{B2DC25EE-239B-4C5F-AAD1-255A7D5F1EE2}" type="slidenum">
              <a:rPr lang="en-US" smtClean="0"/>
              <a:t>‹#›</a:t>
            </a:fld>
            <a:endParaRPr lang="en-US" dirty="0"/>
          </a:p>
        </p:txBody>
      </p:sp>
      <p:sp>
        <p:nvSpPr>
          <p:cNvPr id="8" name="Rectangle 7">
            <a:extLst>
              <a:ext uri="{FF2B5EF4-FFF2-40B4-BE49-F238E27FC236}">
                <a16:creationId xmlns:a16="http://schemas.microsoft.com/office/drawing/2014/main" id="{8D06CE56-3881-4ADA-8CEF-D18B02C242A3}"/>
              </a:ext>
            </a:extLst>
          </p:cNvPr>
          <p:cNvSpPr/>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79F3C543-62EC-4433-9C93-A2CD8764E9B4}"/>
              </a:ext>
            </a:extLst>
          </p:cNvPr>
          <p:cNvSpPr/>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378593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2/11/2025</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7147453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AEDC5C-2E87-49C6-AB07-A95E5F39ED8E}"/>
              </a:ext>
            </a:extLst>
          </p:cNvPr>
          <p:cNvSpPr/>
          <p:nvPr/>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57D88DE-E462-4C8A-BF99-609390DFB781}"/>
              </a:ext>
            </a:extLst>
          </p:cNvPr>
          <p:cNvSpPr/>
          <p:nvPr/>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b">
            <a:normAutofit/>
          </a:bodyPr>
          <a:lstStyle>
            <a:lvl1pPr>
              <a:defRPr sz="6600"/>
            </a:lvl1pPr>
          </a:lstStyle>
          <a:p>
            <a:r>
              <a:rPr lang="en-US" dirty="0"/>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p:spPr>
        <p:txBody>
          <a:bodyPr anchor="ct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D48BFA7D-4401-4285-802B-1579165F0D6D}"/>
              </a:ext>
            </a:extLst>
          </p:cNvPr>
          <p:cNvSpPr>
            <a:spLocks noGrp="1"/>
          </p:cNvSpPr>
          <p:nvPr>
            <p:ph type="dt" sz="half" idx="10"/>
          </p:nvPr>
        </p:nvSpPr>
        <p:spPr/>
        <p:txBody>
          <a:bodyPr/>
          <a:lstStyle/>
          <a:p>
            <a:fld id="{02AC24A9-CCB6-4F8D-B8DB-C2F3692CFA5A}" type="datetimeFigureOut">
              <a:rPr lang="en-US" smtClean="0"/>
              <a:t>2/11/2025</a:t>
            </a:fld>
            <a:endParaRPr lang="en-US"/>
          </a:p>
        </p:txBody>
      </p:sp>
      <p:sp>
        <p:nvSpPr>
          <p:cNvPr id="5" name="Footer Placeholder 4">
            <a:extLst>
              <a:ext uri="{FF2B5EF4-FFF2-40B4-BE49-F238E27FC236}">
                <a16:creationId xmlns:a16="http://schemas.microsoft.com/office/drawing/2014/main" id="{49A909C5-AA19-4195-8376-9002D5DF46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AC3F32-46E0-47C8-8565-5969A475FDB0}"/>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9771605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2/11/2025</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9848431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299500CE-917A-4D03-A7DF-71D8EBBC1537}"/>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2/11/2025</a:t>
            </a:fld>
            <a:endParaRPr lang="en-US"/>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5597144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dirty="0"/>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fld id="{02AC24A9-CCB6-4F8D-B8DB-C2F3692CFA5A}" type="datetimeFigureOut">
              <a:rPr lang="en-US" smtClean="0"/>
              <a:t>2/11/2025</a:t>
            </a:fld>
            <a:endParaRPr lang="en-US"/>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4574621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fld id="{02AC24A9-CCB6-4F8D-B8DB-C2F3692CFA5A}" type="datetimeFigureOut">
              <a:rPr lang="en-US" smtClean="0"/>
              <a:t>2/11/2025</a:t>
            </a:fld>
            <a:endParaRPr lang="en-US"/>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8386252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2/11/2025</a:t>
            </a:fld>
            <a:endParaRPr lang="en-US" dirty="0"/>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9971773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Grp="1"/>
          </p:cNvSpPr>
          <p:nvPr>
            <p:ph type="pic" idx="1"/>
          </p:nvPr>
        </p:nvSpPr>
        <p:spPr>
          <a:xfrm>
            <a:off x="4965192" y="1161288"/>
            <a:ext cx="6729984" cy="4645152"/>
          </a:xfr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2/11/2025</a:t>
            </a:fld>
            <a:endParaRPr lang="en-US"/>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876947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2C18-E430-4EC7-BD7C-99D86D012231}"/>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8FC5012F-7119-4D94-9717-3862E1C938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ED9A4A-D287-4207-9037-70DB007A1707}"/>
              </a:ext>
            </a:extLst>
          </p:cNvPr>
          <p:cNvSpPr>
            <a:spLocks noGrp="1"/>
          </p:cNvSpPr>
          <p:nvPr>
            <p:ph type="dt" sz="half" idx="10"/>
          </p:nvPr>
        </p:nvSpPr>
        <p:spPr/>
        <p:txBody>
          <a:bodyPr/>
          <a:lstStyle/>
          <a:p>
            <a:fld id="{02AC24A9-CCB6-4F8D-B8DB-C2F3692CFA5A}" type="datetimeFigureOut">
              <a:rPr lang="en-US" smtClean="0"/>
              <a:t>2/11/2025</a:t>
            </a:fld>
            <a:endParaRPr lang="en-US"/>
          </a:p>
        </p:txBody>
      </p:sp>
      <p:sp>
        <p:nvSpPr>
          <p:cNvPr id="5" name="Footer Placeholder 4">
            <a:extLst>
              <a:ext uri="{FF2B5EF4-FFF2-40B4-BE49-F238E27FC236}">
                <a16:creationId xmlns:a16="http://schemas.microsoft.com/office/drawing/2014/main" id="{61ECFCAC-80DB-43BB-B3F1-AC22BACEE3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679730-3487-4D94-A0DC-C21684963AB3}"/>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9245414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3C89D-929E-4CD1-BCCC-72A14C0335D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ED450EA-A577-4B76-A12F-650BEB20FD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D2603B-9ACE-4FA9-805B-9B91EB63DF7D}"/>
              </a:ext>
            </a:extLst>
          </p:cNvPr>
          <p:cNvSpPr>
            <a:spLocks noGrp="1"/>
          </p:cNvSpPr>
          <p:nvPr>
            <p:ph type="dt" sz="half" idx="10"/>
          </p:nvPr>
        </p:nvSpPr>
        <p:spPr/>
        <p:txBody>
          <a:bodyPr/>
          <a:lstStyle/>
          <a:p>
            <a:fld id="{02AC24A9-CCB6-4F8D-B8DB-C2F3692CFA5A}" type="datetimeFigureOut">
              <a:rPr lang="en-US" smtClean="0"/>
              <a:t>2/11/2025</a:t>
            </a:fld>
            <a:endParaRPr lang="en-US"/>
          </a:p>
        </p:txBody>
      </p:sp>
      <p:sp>
        <p:nvSpPr>
          <p:cNvPr id="5" name="Footer Placeholder 4">
            <a:extLst>
              <a:ext uri="{FF2B5EF4-FFF2-40B4-BE49-F238E27FC236}">
                <a16:creationId xmlns:a16="http://schemas.microsoft.com/office/drawing/2014/main" id="{7ECE18AC-D6A9-4A61-885D-68E2B684A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197AE4-AA47-4E14-8FFE-171FAE47F49E}"/>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9360150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62D65-86A0-1BA1-405D-20A410A98BE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DA24015-25F3-631C-5F1A-7B80D6B1CF2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2F9169F-90B1-4E25-25E1-7FEFD1ECD630}"/>
              </a:ext>
            </a:extLst>
          </p:cNvPr>
          <p:cNvSpPr>
            <a:spLocks noGrp="1"/>
          </p:cNvSpPr>
          <p:nvPr>
            <p:ph type="dt" sz="half" idx="10"/>
          </p:nvPr>
        </p:nvSpPr>
        <p:spPr/>
        <p:txBody>
          <a:bodyPr/>
          <a:lstStyle/>
          <a:p>
            <a:fld id="{02AC24A9-CCB6-4F8D-B8DB-C2F3692CFA5A}" type="datetimeFigureOut">
              <a:rPr lang="en-US" smtClean="0"/>
              <a:t>2/11/2025</a:t>
            </a:fld>
            <a:endParaRPr lang="en-US" dirty="0"/>
          </a:p>
        </p:txBody>
      </p:sp>
      <p:sp>
        <p:nvSpPr>
          <p:cNvPr id="5" name="Footer Placeholder 4">
            <a:extLst>
              <a:ext uri="{FF2B5EF4-FFF2-40B4-BE49-F238E27FC236}">
                <a16:creationId xmlns:a16="http://schemas.microsoft.com/office/drawing/2014/main" id="{4DFF3465-3476-19D9-D5EF-94E456C37E9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EF3774C-1E39-E7EB-2183-08EA9522EF26}"/>
              </a:ext>
            </a:extLst>
          </p:cNvPr>
          <p:cNvSpPr>
            <a:spLocks noGrp="1"/>
          </p:cNvSpPr>
          <p:nvPr>
            <p:ph type="sldNum" sz="quarter" idx="12"/>
          </p:nvPr>
        </p:nvSpPr>
        <p:spPr/>
        <p:txBody>
          <a:bodyPr/>
          <a:lstStyle/>
          <a:p>
            <a:fld id="{B2DC25EE-239B-4C5F-AAD1-255A7D5F1EE2}" type="slidenum">
              <a:rPr lang="en-US" smtClean="0"/>
              <a:t>‹#›</a:t>
            </a:fld>
            <a:endParaRPr lang="en-US" dirty="0"/>
          </a:p>
        </p:txBody>
      </p:sp>
    </p:spTree>
    <p:extLst>
      <p:ext uri="{BB962C8B-B14F-4D97-AF65-F5344CB8AC3E}">
        <p14:creationId xmlns:p14="http://schemas.microsoft.com/office/powerpoint/2010/main" val="19747631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E3E82-2E80-6954-4C6E-93DAE7D6CB9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4C3987A-E4EA-3B65-09C7-EBA7F280C55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8EF2E10-0763-4085-3B1B-9C78FBC544F2}"/>
              </a:ext>
            </a:extLst>
          </p:cNvPr>
          <p:cNvSpPr>
            <a:spLocks noGrp="1"/>
          </p:cNvSpPr>
          <p:nvPr>
            <p:ph type="dt" sz="half" idx="10"/>
          </p:nvPr>
        </p:nvSpPr>
        <p:spPr/>
        <p:txBody>
          <a:bodyPr/>
          <a:lstStyle/>
          <a:p>
            <a:fld id="{02AC24A9-CCB6-4F8D-B8DB-C2F3692CFA5A}" type="datetimeFigureOut">
              <a:rPr lang="en-US" smtClean="0"/>
              <a:t>2/11/2025</a:t>
            </a:fld>
            <a:endParaRPr lang="en-US"/>
          </a:p>
        </p:txBody>
      </p:sp>
      <p:sp>
        <p:nvSpPr>
          <p:cNvPr id="5" name="Footer Placeholder 4">
            <a:extLst>
              <a:ext uri="{FF2B5EF4-FFF2-40B4-BE49-F238E27FC236}">
                <a16:creationId xmlns:a16="http://schemas.microsoft.com/office/drawing/2014/main" id="{3828D8DE-91FE-6251-AA2C-C8AEA0E30E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E4E6C3-7A69-0D0B-4578-1623692E7D8B}"/>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6347552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0BDB6-099B-7674-A8B5-65BF6127BC6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E05BD3B-4FE7-228D-A827-47F79BD8F51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91D8B21-DFEB-9D49-D551-07C313275AB3}"/>
              </a:ext>
            </a:extLst>
          </p:cNvPr>
          <p:cNvSpPr>
            <a:spLocks noGrp="1"/>
          </p:cNvSpPr>
          <p:nvPr>
            <p:ph type="dt" sz="half" idx="10"/>
          </p:nvPr>
        </p:nvSpPr>
        <p:spPr/>
        <p:txBody>
          <a:bodyPr/>
          <a:lstStyle/>
          <a:p>
            <a:fld id="{02AC24A9-CCB6-4F8D-B8DB-C2F3692CFA5A}" type="datetimeFigureOut">
              <a:rPr lang="en-US" smtClean="0"/>
              <a:t>2/11/2025</a:t>
            </a:fld>
            <a:endParaRPr lang="en-US"/>
          </a:p>
        </p:txBody>
      </p:sp>
      <p:sp>
        <p:nvSpPr>
          <p:cNvPr id="5" name="Footer Placeholder 4">
            <a:extLst>
              <a:ext uri="{FF2B5EF4-FFF2-40B4-BE49-F238E27FC236}">
                <a16:creationId xmlns:a16="http://schemas.microsoft.com/office/drawing/2014/main" id="{37D5504A-C56F-7500-B0B3-9E971F03EC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793DD4F-F797-CF9C-56AF-64BBE557F9C6}"/>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9092639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DCF3E-0FD9-7CF9-58E9-2621C07D10D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E3AB6E0-D070-867D-5535-B92CCFB643D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86D688C-B7FC-5BC3-57C8-6B85CCC9726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B511793-5AE7-3E6E-1C80-2D4E252692BB}"/>
              </a:ext>
            </a:extLst>
          </p:cNvPr>
          <p:cNvSpPr>
            <a:spLocks noGrp="1"/>
          </p:cNvSpPr>
          <p:nvPr>
            <p:ph type="dt" sz="half" idx="10"/>
          </p:nvPr>
        </p:nvSpPr>
        <p:spPr/>
        <p:txBody>
          <a:bodyPr/>
          <a:lstStyle/>
          <a:p>
            <a:fld id="{02AC24A9-CCB6-4F8D-B8DB-C2F3692CFA5A}" type="datetimeFigureOut">
              <a:rPr lang="en-US" smtClean="0"/>
              <a:t>2/11/2025</a:t>
            </a:fld>
            <a:endParaRPr lang="en-US"/>
          </a:p>
        </p:txBody>
      </p:sp>
      <p:sp>
        <p:nvSpPr>
          <p:cNvPr id="6" name="Footer Placeholder 5">
            <a:extLst>
              <a:ext uri="{FF2B5EF4-FFF2-40B4-BE49-F238E27FC236}">
                <a16:creationId xmlns:a16="http://schemas.microsoft.com/office/drawing/2014/main" id="{C9FD96C5-F9B7-08E4-F1E6-CD05705FFCE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D6F22D2-756C-B971-D3FA-0CE49F39DD6D}"/>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9123935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98CCA-C405-F87C-8CE3-5C79D3E0DEB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24916DA-2FB3-0820-13C2-70CCDA9AE62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693CAA1-FB9C-A107-BF48-D64028960B1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ACBDBD9-A449-DD68-3444-923E7B5FF90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8265E4A-F3B2-AD54-4278-FA11AF0AD15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5F9B247-A244-8B13-A2F6-52E8B7B4A051}"/>
              </a:ext>
            </a:extLst>
          </p:cNvPr>
          <p:cNvSpPr>
            <a:spLocks noGrp="1"/>
          </p:cNvSpPr>
          <p:nvPr>
            <p:ph type="dt" sz="half" idx="10"/>
          </p:nvPr>
        </p:nvSpPr>
        <p:spPr/>
        <p:txBody>
          <a:bodyPr/>
          <a:lstStyle/>
          <a:p>
            <a:fld id="{02AC24A9-CCB6-4F8D-B8DB-C2F3692CFA5A}" type="datetimeFigureOut">
              <a:rPr lang="en-US" smtClean="0"/>
              <a:t>2/11/2025</a:t>
            </a:fld>
            <a:endParaRPr lang="en-US"/>
          </a:p>
        </p:txBody>
      </p:sp>
      <p:sp>
        <p:nvSpPr>
          <p:cNvPr id="8" name="Footer Placeholder 7">
            <a:extLst>
              <a:ext uri="{FF2B5EF4-FFF2-40B4-BE49-F238E27FC236}">
                <a16:creationId xmlns:a16="http://schemas.microsoft.com/office/drawing/2014/main" id="{A642C143-5D2A-FEA4-FE26-CC70E14318E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870B843-E68A-832C-6996-5775ECA204E6}"/>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76376223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60453-5CAA-52B6-B266-B10E80B9B34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F52AF49-CB50-148E-C438-6F187CB371D0}"/>
              </a:ext>
            </a:extLst>
          </p:cNvPr>
          <p:cNvSpPr>
            <a:spLocks noGrp="1"/>
          </p:cNvSpPr>
          <p:nvPr>
            <p:ph type="dt" sz="half" idx="10"/>
          </p:nvPr>
        </p:nvSpPr>
        <p:spPr/>
        <p:txBody>
          <a:bodyPr/>
          <a:lstStyle/>
          <a:p>
            <a:fld id="{02AC24A9-CCB6-4F8D-B8DB-C2F3692CFA5A}" type="datetimeFigureOut">
              <a:rPr lang="en-US" smtClean="0"/>
              <a:t>2/11/2025</a:t>
            </a:fld>
            <a:endParaRPr lang="en-US"/>
          </a:p>
        </p:txBody>
      </p:sp>
      <p:sp>
        <p:nvSpPr>
          <p:cNvPr id="4" name="Footer Placeholder 3">
            <a:extLst>
              <a:ext uri="{FF2B5EF4-FFF2-40B4-BE49-F238E27FC236}">
                <a16:creationId xmlns:a16="http://schemas.microsoft.com/office/drawing/2014/main" id="{7C75AB43-7314-5663-5233-5F3F254B101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3272B31-C584-A864-97A2-704DBC2B6833}"/>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5750460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B91A4C8-6CD2-0D36-F07A-76D0198DC426}"/>
              </a:ext>
            </a:extLst>
          </p:cNvPr>
          <p:cNvSpPr>
            <a:spLocks noGrp="1"/>
          </p:cNvSpPr>
          <p:nvPr>
            <p:ph type="dt" sz="half" idx="10"/>
          </p:nvPr>
        </p:nvSpPr>
        <p:spPr/>
        <p:txBody>
          <a:bodyPr/>
          <a:lstStyle/>
          <a:p>
            <a:fld id="{02AC24A9-CCB6-4F8D-B8DB-C2F3692CFA5A}" type="datetimeFigureOut">
              <a:rPr lang="en-US" smtClean="0"/>
              <a:t>2/11/2025</a:t>
            </a:fld>
            <a:endParaRPr lang="en-US"/>
          </a:p>
        </p:txBody>
      </p:sp>
      <p:sp>
        <p:nvSpPr>
          <p:cNvPr id="3" name="Footer Placeholder 2">
            <a:extLst>
              <a:ext uri="{FF2B5EF4-FFF2-40B4-BE49-F238E27FC236}">
                <a16:creationId xmlns:a16="http://schemas.microsoft.com/office/drawing/2014/main" id="{63A19FC0-FFA5-3C79-BAB0-771977FF7D8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0D379F8-A865-D529-DDC8-6604067AA81A}"/>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99416816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E5F6A3-539C-950F-FF80-48171743BA4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E62E0E6-915C-4021-C58E-77BB66F10DD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FF2A2BF-EB6A-454F-4542-C63D9020A2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FA80772-F453-BE7D-5879-E67459BFEDC1}"/>
              </a:ext>
            </a:extLst>
          </p:cNvPr>
          <p:cNvSpPr>
            <a:spLocks noGrp="1"/>
          </p:cNvSpPr>
          <p:nvPr>
            <p:ph type="dt" sz="half" idx="10"/>
          </p:nvPr>
        </p:nvSpPr>
        <p:spPr/>
        <p:txBody>
          <a:bodyPr/>
          <a:lstStyle/>
          <a:p>
            <a:fld id="{02AC24A9-CCB6-4F8D-B8DB-C2F3692CFA5A}" type="datetimeFigureOut">
              <a:rPr lang="en-US" smtClean="0"/>
              <a:t>2/11/2025</a:t>
            </a:fld>
            <a:endParaRPr lang="en-US" dirty="0"/>
          </a:p>
        </p:txBody>
      </p:sp>
      <p:sp>
        <p:nvSpPr>
          <p:cNvPr id="6" name="Footer Placeholder 5">
            <a:extLst>
              <a:ext uri="{FF2B5EF4-FFF2-40B4-BE49-F238E27FC236}">
                <a16:creationId xmlns:a16="http://schemas.microsoft.com/office/drawing/2014/main" id="{7B9CEC3C-9541-CFF4-879B-F1EEC8A7FEF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3ECBBC-C1CE-417D-2A23-0CAE428F3B38}"/>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38199104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213B5-576E-ABF6-EC31-65FAA4DC13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9714F6F-B275-E427-0A77-39231BE0B17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C2581B1-7F4C-2AE8-186F-E9745D19851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3E1863F-CCD7-5164-3938-EC1549FB6273}"/>
              </a:ext>
            </a:extLst>
          </p:cNvPr>
          <p:cNvSpPr>
            <a:spLocks noGrp="1"/>
          </p:cNvSpPr>
          <p:nvPr>
            <p:ph type="dt" sz="half" idx="10"/>
          </p:nvPr>
        </p:nvSpPr>
        <p:spPr/>
        <p:txBody>
          <a:bodyPr/>
          <a:lstStyle/>
          <a:p>
            <a:fld id="{02AC24A9-CCB6-4F8D-B8DB-C2F3692CFA5A}" type="datetimeFigureOut">
              <a:rPr lang="en-US" smtClean="0"/>
              <a:t>2/11/2025</a:t>
            </a:fld>
            <a:endParaRPr lang="en-US"/>
          </a:p>
        </p:txBody>
      </p:sp>
      <p:sp>
        <p:nvSpPr>
          <p:cNvPr id="6" name="Footer Placeholder 5">
            <a:extLst>
              <a:ext uri="{FF2B5EF4-FFF2-40B4-BE49-F238E27FC236}">
                <a16:creationId xmlns:a16="http://schemas.microsoft.com/office/drawing/2014/main" id="{25633150-689A-F54D-8C6C-5ED5B2D9D92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A3D787B-6A01-EEAE-E5DE-3F120AF0B573}"/>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56056347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CBE7E-BDC6-1223-62F2-4AAC86A5A4D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C37FC85-CC17-D434-B714-ACE5D044EA7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BF9607-9002-85F4-8376-F581E936FC14}"/>
              </a:ext>
            </a:extLst>
          </p:cNvPr>
          <p:cNvSpPr>
            <a:spLocks noGrp="1"/>
          </p:cNvSpPr>
          <p:nvPr>
            <p:ph type="dt" sz="half" idx="10"/>
          </p:nvPr>
        </p:nvSpPr>
        <p:spPr/>
        <p:txBody>
          <a:bodyPr/>
          <a:lstStyle/>
          <a:p>
            <a:fld id="{02AC24A9-CCB6-4F8D-B8DB-C2F3692CFA5A}" type="datetimeFigureOut">
              <a:rPr lang="en-US" smtClean="0"/>
              <a:t>2/11/2025</a:t>
            </a:fld>
            <a:endParaRPr lang="en-US"/>
          </a:p>
        </p:txBody>
      </p:sp>
      <p:sp>
        <p:nvSpPr>
          <p:cNvPr id="5" name="Footer Placeholder 4">
            <a:extLst>
              <a:ext uri="{FF2B5EF4-FFF2-40B4-BE49-F238E27FC236}">
                <a16:creationId xmlns:a16="http://schemas.microsoft.com/office/drawing/2014/main" id="{37ECE878-25BB-F2FA-C26D-2909B4A71F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570C82-25DF-5CEE-6F79-6DDBCF73BD40}"/>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15707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507F61D-2C26-6A35-FB3B-01B2C7B34CA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F6FE846-213E-A7BF-95E6-75708BA23E5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D2ADA3-B56E-B8ED-9585-4FA04AC35F02}"/>
              </a:ext>
            </a:extLst>
          </p:cNvPr>
          <p:cNvSpPr>
            <a:spLocks noGrp="1"/>
          </p:cNvSpPr>
          <p:nvPr>
            <p:ph type="dt" sz="half" idx="10"/>
          </p:nvPr>
        </p:nvSpPr>
        <p:spPr/>
        <p:txBody>
          <a:bodyPr/>
          <a:lstStyle/>
          <a:p>
            <a:fld id="{02AC24A9-CCB6-4F8D-B8DB-C2F3692CFA5A}" type="datetimeFigureOut">
              <a:rPr lang="en-US" smtClean="0"/>
              <a:t>2/11/2025</a:t>
            </a:fld>
            <a:endParaRPr lang="en-US"/>
          </a:p>
        </p:txBody>
      </p:sp>
      <p:sp>
        <p:nvSpPr>
          <p:cNvPr id="5" name="Footer Placeholder 4">
            <a:extLst>
              <a:ext uri="{FF2B5EF4-FFF2-40B4-BE49-F238E27FC236}">
                <a16:creationId xmlns:a16="http://schemas.microsoft.com/office/drawing/2014/main" id="{4006B940-F90A-516E-EEEB-06707ED187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59F68F-EE27-D2AA-D271-91F64751F0E9}"/>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6713351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AC24A9-CCB6-4F8D-B8DB-C2F3692CFA5A}" type="datetimeFigureOut">
              <a:rPr lang="en-US" smtClean="0"/>
              <a:t>2/11/2025</a:t>
            </a:fld>
            <a:endParaRPr lang="en-US"/>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DC25EE-239B-4C5F-AAD1-255A7D5F1EE2}" type="slidenum">
              <a:rPr lang="en-US" smtClean="0"/>
              <a:t>‹#›</a:t>
            </a:fld>
            <a:endParaRPr lang="en-US"/>
          </a:p>
        </p:txBody>
      </p:sp>
    </p:spTree>
    <p:extLst>
      <p:ext uri="{BB962C8B-B14F-4D97-AF65-F5344CB8AC3E}">
        <p14:creationId xmlns:p14="http://schemas.microsoft.com/office/powerpoint/2010/main" val="292674390"/>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06" r:id="rId6"/>
    <p:sldLayoutId id="2147483702" r:id="rId7"/>
    <p:sldLayoutId id="2147483703" r:id="rId8"/>
    <p:sldLayoutId id="2147483704" r:id="rId9"/>
    <p:sldLayoutId id="2147483705" r:id="rId10"/>
    <p:sldLayoutId id="2147483707" r:id="rId11"/>
  </p:sldLayoutIdLst>
  <p:txStyles>
    <p:titleStyle>
      <a:lvl1pPr algn="l" defTabSz="914400" rtl="0" eaLnBrk="1" latinLnBrk="0" hangingPunct="1">
        <a:lnSpc>
          <a:spcPct val="9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56B8D32-A3D2-226B-A5B4-A2A076610A3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21DB49E-EBF6-74F7-6468-5E6B9165696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95F9B20-EF52-97EB-4AA7-3C54467F3AD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2AC24A9-CCB6-4F8D-B8DB-C2F3692CFA5A}" type="datetimeFigureOut">
              <a:rPr lang="en-US" smtClean="0"/>
              <a:t>2/11/2025</a:t>
            </a:fld>
            <a:endParaRPr lang="en-US"/>
          </a:p>
        </p:txBody>
      </p:sp>
      <p:sp>
        <p:nvSpPr>
          <p:cNvPr id="5" name="Footer Placeholder 4">
            <a:extLst>
              <a:ext uri="{FF2B5EF4-FFF2-40B4-BE49-F238E27FC236}">
                <a16:creationId xmlns:a16="http://schemas.microsoft.com/office/drawing/2014/main" id="{82B4515B-6F88-EA2B-873B-ED2FD914F1A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AD212CF-6602-C15F-FFD7-A8960356EA1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2DC25EE-239B-4C5F-AAD1-255A7D5F1EE2}" type="slidenum">
              <a:rPr lang="en-US" smtClean="0"/>
              <a:t>‹#›</a:t>
            </a:fld>
            <a:endParaRPr lang="en-US"/>
          </a:p>
        </p:txBody>
      </p:sp>
    </p:spTree>
    <p:extLst>
      <p:ext uri="{BB962C8B-B14F-4D97-AF65-F5344CB8AC3E}">
        <p14:creationId xmlns:p14="http://schemas.microsoft.com/office/powerpoint/2010/main" val="1132850870"/>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3.gif"/><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1B05AB17-A35C-E7A5-744D-E2F403786E6F}"/>
              </a:ext>
            </a:extLst>
          </p:cNvPr>
          <p:cNvPicPr>
            <a:picLocks noChangeAspect="1"/>
          </p:cNvPicPr>
          <p:nvPr/>
        </p:nvPicPr>
        <p:blipFill>
          <a:blip r:embed="rId2"/>
          <a:srcRect l="9008" r="6618" b="-1"/>
          <a:stretch/>
        </p:blipFill>
        <p:spPr>
          <a:xfrm>
            <a:off x="3523488" y="10"/>
            <a:ext cx="8668512" cy="6857990"/>
          </a:xfrm>
          <a:prstGeom prst="rect">
            <a:avLst/>
          </a:prstGeom>
        </p:spPr>
      </p:pic>
      <p:sp>
        <p:nvSpPr>
          <p:cNvPr id="11" name="Rectangle 10">
            <a:extLst>
              <a:ext uri="{FF2B5EF4-FFF2-40B4-BE49-F238E27FC236}">
                <a16:creationId xmlns:a16="http://schemas.microsoft.com/office/drawing/2014/main" id="{A44CD100-6267-4E62-AA64-2182A3A6A1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280730D-1B54-C06E-ACC8-ADDD8E859436}"/>
              </a:ext>
            </a:extLst>
          </p:cNvPr>
          <p:cNvSpPr>
            <a:spLocks noGrp="1"/>
          </p:cNvSpPr>
          <p:nvPr>
            <p:ph type="ctrTitle"/>
          </p:nvPr>
        </p:nvSpPr>
        <p:spPr>
          <a:xfrm>
            <a:off x="477981" y="1122363"/>
            <a:ext cx="4023360" cy="3204134"/>
          </a:xfrm>
        </p:spPr>
        <p:txBody>
          <a:bodyPr anchor="b">
            <a:normAutofit/>
          </a:bodyPr>
          <a:lstStyle/>
          <a:p>
            <a:r>
              <a:rPr lang="mk-MK" sz="4400" dirty="0">
                <a:solidFill>
                  <a:schemeClr val="bg1"/>
                </a:solidFill>
              </a:rPr>
              <a:t>АЛГОРИТМИ ЗА ПРОНАОЃАЊЕ НА ПАТИШТА И 3</a:t>
            </a:r>
            <a:r>
              <a:rPr lang="en-US" sz="4400" dirty="0">
                <a:solidFill>
                  <a:schemeClr val="bg1"/>
                </a:solidFill>
              </a:rPr>
              <a:t>D</a:t>
            </a:r>
            <a:r>
              <a:rPr lang="mk-MK" sz="4400" dirty="0">
                <a:solidFill>
                  <a:schemeClr val="bg1"/>
                </a:solidFill>
              </a:rPr>
              <a:t> ГРАФИЧКО РЕНДЕРИРАЊЕ</a:t>
            </a:r>
            <a:endParaRPr lang="en-US" sz="4400" dirty="0">
              <a:solidFill>
                <a:schemeClr val="bg1"/>
              </a:solidFill>
            </a:endParaRPr>
          </a:p>
        </p:txBody>
      </p:sp>
      <p:sp>
        <p:nvSpPr>
          <p:cNvPr id="3" name="Subtitle 2">
            <a:extLst>
              <a:ext uri="{FF2B5EF4-FFF2-40B4-BE49-F238E27FC236}">
                <a16:creationId xmlns:a16="http://schemas.microsoft.com/office/drawing/2014/main" id="{D163F0BA-608D-2B49-3DEE-99107ED031B2}"/>
              </a:ext>
            </a:extLst>
          </p:cNvPr>
          <p:cNvSpPr>
            <a:spLocks noGrp="1"/>
          </p:cNvSpPr>
          <p:nvPr>
            <p:ph type="subTitle" idx="1"/>
          </p:nvPr>
        </p:nvSpPr>
        <p:spPr>
          <a:xfrm>
            <a:off x="477980" y="4872922"/>
            <a:ext cx="4023359" cy="1208141"/>
          </a:xfrm>
        </p:spPr>
        <p:txBody>
          <a:bodyPr>
            <a:normAutofit/>
          </a:bodyPr>
          <a:lstStyle/>
          <a:p>
            <a:r>
              <a:rPr lang="mk-MK" sz="2000">
                <a:solidFill>
                  <a:schemeClr val="bg1"/>
                </a:solidFill>
              </a:rPr>
              <a:t>Петар Србиноски 231139</a:t>
            </a:r>
          </a:p>
          <a:p>
            <a:r>
              <a:rPr lang="mk-MK" sz="2000">
                <a:solidFill>
                  <a:schemeClr val="bg1"/>
                </a:solidFill>
              </a:rPr>
              <a:t>Андреј Стојановски 231094</a:t>
            </a:r>
            <a:endParaRPr lang="en-US" sz="2000">
              <a:solidFill>
                <a:schemeClr val="bg1"/>
              </a:solidFill>
            </a:endParaRPr>
          </a:p>
        </p:txBody>
      </p:sp>
      <p:sp>
        <p:nvSpPr>
          <p:cNvPr id="13" name="Rectangle 12">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224300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C799903-48D5-4A31-A1A2-541072D977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8EFFF109-FC58-4FD3-BE05-9775A1310F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chemeClr val="tx2">
                <a:lumMod val="10000"/>
                <a:lumOff val="90000"/>
              </a:schemeClr>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E1B96AD6-92A9-4273-A62B-96A1C3E0BA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605C9BA-77EA-27CC-EDF8-FB1F1A8A4FB2}"/>
              </a:ext>
            </a:extLst>
          </p:cNvPr>
          <p:cNvSpPr>
            <a:spLocks noGrp="1"/>
          </p:cNvSpPr>
          <p:nvPr>
            <p:ph type="title"/>
          </p:nvPr>
        </p:nvSpPr>
        <p:spPr>
          <a:xfrm>
            <a:off x="621792" y="1161288"/>
            <a:ext cx="3602736" cy="4526280"/>
          </a:xfrm>
        </p:spPr>
        <p:txBody>
          <a:bodyPr>
            <a:normAutofit/>
          </a:bodyPr>
          <a:lstStyle/>
          <a:p>
            <a:r>
              <a:rPr lang="mk-MK" dirty="0"/>
              <a:t>Алгоритми за пронаоѓање на патишта</a:t>
            </a:r>
            <a:endParaRPr lang="en-US" dirty="0"/>
          </a:p>
        </p:txBody>
      </p:sp>
      <p:sp>
        <p:nvSpPr>
          <p:cNvPr id="14" name="Rectangle 13">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102049"/>
            <a:ext cx="128016" cy="6539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CA19BA3A-8DC5-1C1F-4603-62CD65538569}"/>
              </a:ext>
            </a:extLst>
          </p:cNvPr>
          <p:cNvSpPr>
            <a:spLocks noGrp="1"/>
          </p:cNvSpPr>
          <p:nvPr>
            <p:ph idx="1"/>
          </p:nvPr>
        </p:nvSpPr>
        <p:spPr>
          <a:xfrm>
            <a:off x="5434149" y="932688"/>
            <a:ext cx="5916603" cy="4992624"/>
          </a:xfrm>
        </p:spPr>
        <p:txBody>
          <a:bodyPr anchor="ctr">
            <a:normAutofit/>
          </a:bodyPr>
          <a:lstStyle/>
          <a:p>
            <a:r>
              <a:rPr lang="ru-RU" sz="2200" dirty="0"/>
              <a:t>Пронаоѓањето на патишта се однесува на алгоритмите што се користат за одредување на најкратката или најефикасната рута од една до друга точка.</a:t>
            </a:r>
            <a:endParaRPr lang="mk-MK" sz="2200" dirty="0"/>
          </a:p>
          <a:p>
            <a:endParaRPr lang="ru-RU" sz="2200" dirty="0"/>
          </a:p>
          <a:p>
            <a:r>
              <a:rPr lang="ru-RU" sz="2200" dirty="0"/>
              <a:t>Најпознати алгоритми за наоѓање на патишта:</a:t>
            </a:r>
          </a:p>
          <a:p>
            <a:pPr lvl="1"/>
            <a:r>
              <a:rPr lang="ru-RU" dirty="0"/>
              <a:t>Дјикстра алгоритам</a:t>
            </a:r>
          </a:p>
          <a:p>
            <a:pPr lvl="1"/>
            <a:r>
              <a:rPr lang="ru-RU" dirty="0"/>
              <a:t>Алгоритамот А*</a:t>
            </a:r>
          </a:p>
          <a:p>
            <a:pPr lvl="1"/>
            <a:r>
              <a:rPr lang="en-US" sz="1800" dirty="0"/>
              <a:t>BFS (breadth first search)</a:t>
            </a:r>
          </a:p>
          <a:p>
            <a:pPr lvl="1"/>
            <a:r>
              <a:rPr lang="en-US" sz="1800" dirty="0"/>
              <a:t>DFS (depth first search)</a:t>
            </a:r>
            <a:endParaRPr lang="ru-RU" sz="1800" dirty="0"/>
          </a:p>
          <a:p>
            <a:pPr lvl="1"/>
            <a:endParaRPr lang="ru-RU" dirty="0"/>
          </a:p>
        </p:txBody>
      </p:sp>
    </p:spTree>
    <p:extLst>
      <p:ext uri="{BB962C8B-B14F-4D97-AF65-F5344CB8AC3E}">
        <p14:creationId xmlns:p14="http://schemas.microsoft.com/office/powerpoint/2010/main" val="34999291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EC0ADE-FD3A-3FFA-BA87-3BF56A4FFDD1}"/>
              </a:ext>
            </a:extLst>
          </p:cNvPr>
          <p:cNvSpPr>
            <a:spLocks noGrp="1"/>
          </p:cNvSpPr>
          <p:nvPr>
            <p:ph type="title"/>
          </p:nvPr>
        </p:nvSpPr>
        <p:spPr/>
        <p:txBody>
          <a:bodyPr/>
          <a:lstStyle/>
          <a:p>
            <a:r>
              <a:rPr lang="mk-MK" dirty="0"/>
              <a:t>Дијкстра алгоритам</a:t>
            </a:r>
            <a:endParaRPr lang="en-US" dirty="0"/>
          </a:p>
        </p:txBody>
      </p:sp>
      <p:sp>
        <p:nvSpPr>
          <p:cNvPr id="3" name="Content Placeholder 2">
            <a:extLst>
              <a:ext uri="{FF2B5EF4-FFF2-40B4-BE49-F238E27FC236}">
                <a16:creationId xmlns:a16="http://schemas.microsoft.com/office/drawing/2014/main" id="{FA8737F0-0CFC-B716-97DD-7AF66165746D}"/>
              </a:ext>
            </a:extLst>
          </p:cNvPr>
          <p:cNvSpPr>
            <a:spLocks noGrp="1"/>
          </p:cNvSpPr>
          <p:nvPr>
            <p:ph idx="1"/>
          </p:nvPr>
        </p:nvSpPr>
        <p:spPr/>
        <p:txBody>
          <a:bodyPr/>
          <a:lstStyle/>
          <a:p>
            <a:r>
              <a:rPr lang="ru-RU" dirty="0"/>
              <a:t>Алгоритмот на Дијкстра е алгоритам за преминување на </a:t>
            </a:r>
            <a:r>
              <a:rPr lang="mk-MK" dirty="0"/>
              <a:t>графови</a:t>
            </a:r>
            <a:r>
              <a:rPr lang="ru-RU" dirty="0"/>
              <a:t> што се користи за пронаоѓање на најкратката патека од еден изворен јазол до сите други јазли. Тоа е фундаментална техника во пронаоѓањето патеки, широко користена во видео игрите за движење на карактери кои не ги контролира играчот.</a:t>
            </a:r>
            <a:endParaRPr lang="en-US" dirty="0"/>
          </a:p>
        </p:txBody>
      </p:sp>
    </p:spTree>
    <p:extLst>
      <p:ext uri="{BB962C8B-B14F-4D97-AF65-F5344CB8AC3E}">
        <p14:creationId xmlns:p14="http://schemas.microsoft.com/office/powerpoint/2010/main" val="27489497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C8B66-2732-34E4-7302-C48CE78CF887}"/>
              </a:ext>
            </a:extLst>
          </p:cNvPr>
          <p:cNvSpPr>
            <a:spLocks noGrp="1"/>
          </p:cNvSpPr>
          <p:nvPr>
            <p:ph type="title"/>
          </p:nvPr>
        </p:nvSpPr>
        <p:spPr/>
        <p:txBody>
          <a:bodyPr/>
          <a:lstStyle/>
          <a:p>
            <a:r>
              <a:rPr lang="en-US" dirty="0"/>
              <a:t>A* </a:t>
            </a:r>
            <a:r>
              <a:rPr lang="mk-MK" dirty="0"/>
              <a:t>алгоритам</a:t>
            </a:r>
            <a:endParaRPr lang="en-US" dirty="0"/>
          </a:p>
        </p:txBody>
      </p:sp>
      <p:sp>
        <p:nvSpPr>
          <p:cNvPr id="3" name="Content Placeholder 2">
            <a:extLst>
              <a:ext uri="{FF2B5EF4-FFF2-40B4-BE49-F238E27FC236}">
                <a16:creationId xmlns:a16="http://schemas.microsoft.com/office/drawing/2014/main" id="{8D3B15B2-4264-8547-D99B-46755F6FA0EA}"/>
              </a:ext>
            </a:extLst>
          </p:cNvPr>
          <p:cNvSpPr>
            <a:spLocks noGrp="1"/>
          </p:cNvSpPr>
          <p:nvPr>
            <p:ph idx="1"/>
          </p:nvPr>
        </p:nvSpPr>
        <p:spPr/>
        <p:txBody>
          <a:bodyPr>
            <a:normAutofit/>
          </a:bodyPr>
          <a:lstStyle/>
          <a:p>
            <a:r>
              <a:rPr lang="ru-RU" dirty="0"/>
              <a:t>Го комбинира алгоритмот на Дијкстра и евристичките методи за ефикасно пронаоѓање патеки.</a:t>
            </a:r>
            <a:r>
              <a:rPr lang="en-US" dirty="0"/>
              <a:t> </a:t>
            </a:r>
            <a:r>
              <a:rPr lang="ru-RU" dirty="0"/>
              <a:t>Користи:</a:t>
            </a:r>
          </a:p>
          <a:p>
            <a:r>
              <a:rPr lang="ru-RU" dirty="0"/>
              <a:t>Г-</a:t>
            </a:r>
            <a:r>
              <a:rPr lang="mk-MK" dirty="0"/>
              <a:t>цена</a:t>
            </a:r>
            <a:r>
              <a:rPr lang="ru-RU" dirty="0"/>
              <a:t>: Растојание од почетната точка.</a:t>
            </a:r>
          </a:p>
          <a:p>
            <a:r>
              <a:rPr lang="ru-RU" dirty="0"/>
              <a:t>Х-цена: проценето растојание до целта (евристички).</a:t>
            </a:r>
          </a:p>
          <a:p>
            <a:r>
              <a:rPr lang="ru-RU" dirty="0"/>
              <a:t>Ф-цена: Збир на Г-цена и Х-цена.</a:t>
            </a:r>
            <a:endParaRPr lang="en-US" dirty="0"/>
          </a:p>
          <a:p>
            <a:endParaRPr lang="en-US" dirty="0"/>
          </a:p>
        </p:txBody>
      </p:sp>
    </p:spTree>
    <p:extLst>
      <p:ext uri="{BB962C8B-B14F-4D97-AF65-F5344CB8AC3E}">
        <p14:creationId xmlns:p14="http://schemas.microsoft.com/office/powerpoint/2010/main" val="31169800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C799903-48D5-4A31-A1A2-541072D977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8EFFF109-FC58-4FD3-BE05-9775A1310F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chemeClr val="tx2">
                <a:lumMod val="10000"/>
                <a:lumOff val="90000"/>
              </a:schemeClr>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E1B96AD6-92A9-4273-A62B-96A1C3E0BA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5FC87C8-6365-9872-57D5-B2366ABA1C81}"/>
              </a:ext>
            </a:extLst>
          </p:cNvPr>
          <p:cNvSpPr>
            <a:spLocks noGrp="1"/>
          </p:cNvSpPr>
          <p:nvPr>
            <p:ph type="title"/>
          </p:nvPr>
        </p:nvSpPr>
        <p:spPr>
          <a:xfrm>
            <a:off x="621792" y="1161288"/>
            <a:ext cx="3602736" cy="4526280"/>
          </a:xfrm>
        </p:spPr>
        <p:txBody>
          <a:bodyPr>
            <a:normAutofit/>
          </a:bodyPr>
          <a:lstStyle/>
          <a:p>
            <a:r>
              <a:rPr lang="en-US" dirty="0"/>
              <a:t>A</a:t>
            </a:r>
            <a:r>
              <a:rPr lang="mk-MK" dirty="0"/>
              <a:t>* алгоритам</a:t>
            </a:r>
            <a:endParaRPr lang="en-US" dirty="0"/>
          </a:p>
        </p:txBody>
      </p:sp>
      <p:sp>
        <p:nvSpPr>
          <p:cNvPr id="14" name="Rectangle 13">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102049"/>
            <a:ext cx="128016" cy="6539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07950F8-784E-1985-CCF6-0361C597E80D}"/>
                  </a:ext>
                </a:extLst>
              </p:cNvPr>
              <p:cNvSpPr>
                <a:spLocks noGrp="1"/>
              </p:cNvSpPr>
              <p:nvPr>
                <p:ph idx="1"/>
              </p:nvPr>
            </p:nvSpPr>
            <p:spPr>
              <a:xfrm>
                <a:off x="5434149" y="932688"/>
                <a:ext cx="5916603" cy="4992624"/>
              </a:xfrm>
            </p:spPr>
            <p:txBody>
              <a:bodyPr anchor="ctr">
                <a:normAutofit/>
              </a:bodyPr>
              <a:lstStyle/>
              <a:p>
                <a:pPr>
                  <a:lnSpc>
                    <a:spcPct val="100000"/>
                  </a:lnSpc>
                </a:pPr>
                <a:r>
                  <a:rPr lang="ru-RU" sz="2000" dirty="0"/>
                  <a:t>Г-цена (трошок за движење) - Трошоците за движење од почетната точка до тековниот јазол. Се акумулира како што напредува алгоритмот, земајќи го </a:t>
                </a:r>
                <a:r>
                  <a:rPr lang="mk-MK" sz="2000" dirty="0"/>
                  <a:t>во </a:t>
                </a:r>
                <a:r>
                  <a:rPr lang="ru-RU" sz="2000" dirty="0"/>
                  <a:t>предвид досегашното поминато растојание.</a:t>
                </a:r>
              </a:p>
              <a:p>
                <a:pPr>
                  <a:lnSpc>
                    <a:spcPct val="100000"/>
                  </a:lnSpc>
                </a:pPr>
                <a:r>
                  <a:rPr lang="ru-RU" sz="2000" dirty="0"/>
                  <a:t>Х-цена (евристичка цена) - Проценетиот трошок од тековниот јазол до целта. Помага ефикасно да се води алгоритмот кон целта.</a:t>
                </a:r>
                <a:r>
                  <a:rPr lang="en-US" sz="2000" dirty="0"/>
                  <a:t> </a:t>
                </a:r>
                <a:r>
                  <a:rPr lang="mk-MK" sz="2000" dirty="0"/>
                  <a:t>Користиме </a:t>
                </a:r>
                <a:r>
                  <a:rPr lang="mk-MK" sz="2000" dirty="0" err="1"/>
                  <a:t>Евклидово</a:t>
                </a:r>
                <a:r>
                  <a:rPr lang="mk-MK" sz="2000" dirty="0"/>
                  <a:t> растојание за слободно движење во било кој правец. </a:t>
                </a:r>
                <a:r>
                  <a:rPr lang="en-US" sz="2000" dirty="0"/>
                  <a:t>h(</a:t>
                </a:r>
                <a:r>
                  <a:rPr lang="en-US" sz="1800" dirty="0"/>
                  <a:t>n</a:t>
                </a:r>
                <a:r>
                  <a:rPr lang="en-US" sz="2000" dirty="0"/>
                  <a:t>) = </a:t>
                </a:r>
                <a14:m>
                  <m:oMath xmlns:m="http://schemas.openxmlformats.org/officeDocument/2006/math">
                    <m:rad>
                      <m:radPr>
                        <m:degHide m:val="on"/>
                        <m:ctrlPr>
                          <a:rPr lang="en-US" sz="2000" b="0" i="1" smtClean="0">
                            <a:latin typeface="Cambria Math" panose="02040503050406030204" pitchFamily="18" charset="0"/>
                            <a:ea typeface="Cambria Math" panose="02040503050406030204" pitchFamily="18" charset="0"/>
                          </a:rPr>
                        </m:ctrlPr>
                      </m:radPr>
                      <m:deg/>
                      <m:e>
                        <m:sSup>
                          <m:sSupPr>
                            <m:ctrlPr>
                              <a:rPr lang="en-US" sz="2000" b="0" i="1" smtClean="0">
                                <a:latin typeface="Cambria Math" panose="02040503050406030204" pitchFamily="18" charset="0"/>
                                <a:ea typeface="Cambria Math" panose="02040503050406030204" pitchFamily="18" charset="0"/>
                              </a:rPr>
                            </m:ctrlPr>
                          </m:sSupPr>
                          <m:e>
                            <m:d>
                              <m:dPr>
                                <m:ctrlPr>
                                  <a:rPr lang="en-US" sz="2000" b="0" i="1" smtClean="0">
                                    <a:latin typeface="Cambria Math" panose="02040503050406030204" pitchFamily="18" charset="0"/>
                                    <a:ea typeface="Cambria Math" panose="02040503050406030204" pitchFamily="18" charset="0"/>
                                  </a:rPr>
                                </m:ctrlPr>
                              </m:dPr>
                              <m:e>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𝑥</m:t>
                                    </m:r>
                                  </m:e>
                                  <m:sub>
                                    <m:r>
                                      <a:rPr lang="en-US" sz="2000" b="0" i="1" smtClean="0">
                                        <a:latin typeface="Cambria Math" panose="02040503050406030204" pitchFamily="18" charset="0"/>
                                        <a:ea typeface="Cambria Math" panose="02040503050406030204" pitchFamily="18" charset="0"/>
                                      </a:rPr>
                                      <m:t>1</m:t>
                                    </m:r>
                                  </m:sub>
                                </m:sSub>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𝑥</m:t>
                                    </m:r>
                                  </m:e>
                                  <m:sub>
                                    <m:r>
                                      <a:rPr lang="en-US" sz="2000" b="0" i="1" smtClean="0">
                                        <a:latin typeface="Cambria Math" panose="02040503050406030204" pitchFamily="18" charset="0"/>
                                        <a:ea typeface="Cambria Math" panose="02040503050406030204" pitchFamily="18" charset="0"/>
                                      </a:rPr>
                                      <m:t>0</m:t>
                                    </m:r>
                                  </m:sub>
                                </m:sSub>
                              </m:e>
                            </m:d>
                          </m:e>
                          <m:sup>
                            <m:r>
                              <a:rPr lang="en-US" sz="2000" b="0" i="1" smtClean="0">
                                <a:latin typeface="Cambria Math" panose="02040503050406030204" pitchFamily="18" charset="0"/>
                                <a:ea typeface="Cambria Math" panose="02040503050406030204" pitchFamily="18" charset="0"/>
                              </a:rPr>
                              <m:t>2</m:t>
                            </m:r>
                          </m:sup>
                        </m:sSup>
                        <m:r>
                          <a:rPr lang="en-US" sz="2000" b="0" i="1" smtClean="0">
                            <a:latin typeface="Cambria Math" panose="02040503050406030204" pitchFamily="18" charset="0"/>
                            <a:ea typeface="Cambria Math" panose="02040503050406030204" pitchFamily="18" charset="0"/>
                          </a:rPr>
                          <m:t>+</m:t>
                        </m:r>
                        <m:sSup>
                          <m:sSupPr>
                            <m:ctrlPr>
                              <a:rPr lang="en-US" sz="2000" b="0" i="1" smtClean="0">
                                <a:latin typeface="Cambria Math" panose="02040503050406030204" pitchFamily="18" charset="0"/>
                                <a:ea typeface="Cambria Math" panose="02040503050406030204" pitchFamily="18" charset="0"/>
                              </a:rPr>
                            </m:ctrlPr>
                          </m:sSupPr>
                          <m:e>
                            <m:d>
                              <m:dPr>
                                <m:ctrlPr>
                                  <a:rPr lang="en-US" sz="2000" b="0" i="1" smtClean="0">
                                    <a:latin typeface="Cambria Math" panose="02040503050406030204" pitchFamily="18" charset="0"/>
                                    <a:ea typeface="Cambria Math" panose="02040503050406030204" pitchFamily="18" charset="0"/>
                                  </a:rPr>
                                </m:ctrlPr>
                              </m:dPr>
                              <m:e>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𝑦</m:t>
                                    </m:r>
                                  </m:e>
                                  <m:sub>
                                    <m:r>
                                      <a:rPr lang="en-US" sz="2000" b="0" i="1" smtClean="0">
                                        <a:latin typeface="Cambria Math" panose="02040503050406030204" pitchFamily="18" charset="0"/>
                                        <a:ea typeface="Cambria Math" panose="02040503050406030204" pitchFamily="18" charset="0"/>
                                      </a:rPr>
                                      <m:t>1</m:t>
                                    </m:r>
                                  </m:sub>
                                </m:sSub>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𝑦</m:t>
                                    </m:r>
                                  </m:e>
                                  <m:sub>
                                    <m:r>
                                      <a:rPr lang="en-US" sz="2000" b="0" i="1" smtClean="0">
                                        <a:latin typeface="Cambria Math" panose="02040503050406030204" pitchFamily="18" charset="0"/>
                                        <a:ea typeface="Cambria Math" panose="02040503050406030204" pitchFamily="18" charset="0"/>
                                      </a:rPr>
                                      <m:t>0</m:t>
                                    </m:r>
                                  </m:sub>
                                </m:sSub>
                              </m:e>
                            </m:d>
                          </m:e>
                          <m:sup>
                            <m:r>
                              <a:rPr lang="en-US" sz="2000" b="0" i="1" smtClean="0">
                                <a:latin typeface="Cambria Math" panose="02040503050406030204" pitchFamily="18" charset="0"/>
                                <a:ea typeface="Cambria Math" panose="02040503050406030204" pitchFamily="18" charset="0"/>
                              </a:rPr>
                              <m:t>2</m:t>
                            </m:r>
                          </m:sup>
                        </m:sSup>
                      </m:e>
                    </m:rad>
                  </m:oMath>
                </a14:m>
                <a:endParaRPr lang="ru-RU" sz="2000" dirty="0"/>
              </a:p>
              <a:p>
                <a:pPr>
                  <a:lnSpc>
                    <a:spcPct val="100000"/>
                  </a:lnSpc>
                </a:pPr>
                <a:r>
                  <a:rPr lang="ru-RU" sz="2000" dirty="0"/>
                  <a:t>Ф-цена (вкупни трошоци) - Збирот на Г-цена и Х-цена. Алгоритмот A* избира јазли со најниска F-трошок за евалуација за да ја најде најефикасната патека.</a:t>
                </a:r>
                <a:endParaRPr lang="en-US" sz="2000" dirty="0"/>
              </a:p>
            </p:txBody>
          </p:sp>
        </mc:Choice>
        <mc:Fallback>
          <p:sp>
            <p:nvSpPr>
              <p:cNvPr id="3" name="Content Placeholder 2">
                <a:extLst>
                  <a:ext uri="{FF2B5EF4-FFF2-40B4-BE49-F238E27FC236}">
                    <a16:creationId xmlns:a16="http://schemas.microsoft.com/office/drawing/2014/main" id="{207950F8-784E-1985-CCF6-0361C597E80D}"/>
                  </a:ext>
                </a:extLst>
              </p:cNvPr>
              <p:cNvSpPr>
                <a:spLocks noGrp="1" noRot="1" noChangeAspect="1" noMove="1" noResize="1" noEditPoints="1" noAdjustHandles="1" noChangeArrowheads="1" noChangeShapeType="1" noTextEdit="1"/>
              </p:cNvSpPr>
              <p:nvPr>
                <p:ph idx="1"/>
              </p:nvPr>
            </p:nvSpPr>
            <p:spPr>
              <a:xfrm>
                <a:off x="5434149" y="932688"/>
                <a:ext cx="5916603" cy="4992624"/>
              </a:xfrm>
              <a:blipFill>
                <a:blip r:embed="rId2"/>
                <a:stretch>
                  <a:fillRect l="-927"/>
                </a:stretch>
              </a:blipFill>
            </p:spPr>
            <p:txBody>
              <a:bodyPr/>
              <a:lstStyle/>
              <a:p>
                <a:r>
                  <a:rPr lang="en-US">
                    <a:noFill/>
                  </a:rPr>
                  <a:t> </a:t>
                </a:r>
              </a:p>
            </p:txBody>
          </p:sp>
        </mc:Fallback>
      </mc:AlternateContent>
    </p:spTree>
    <p:extLst>
      <p:ext uri="{BB962C8B-B14F-4D97-AF65-F5344CB8AC3E}">
        <p14:creationId xmlns:p14="http://schemas.microsoft.com/office/powerpoint/2010/main" val="41715933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5E3FAA-62A8-25F9-6B3C-E1EF47BB0790}"/>
              </a:ext>
            </a:extLst>
          </p:cNvPr>
          <p:cNvSpPr>
            <a:spLocks noGrp="1"/>
          </p:cNvSpPr>
          <p:nvPr>
            <p:ph idx="1"/>
          </p:nvPr>
        </p:nvSpPr>
        <p:spPr/>
        <p:txBody>
          <a:bodyPr/>
          <a:lstStyle/>
          <a:p>
            <a:r>
              <a:rPr lang="mk-MK" dirty="0"/>
              <a:t>видео</a:t>
            </a:r>
            <a:endParaRPr lang="en-US" dirty="0"/>
          </a:p>
        </p:txBody>
      </p:sp>
    </p:spTree>
    <p:extLst>
      <p:ext uri="{BB962C8B-B14F-4D97-AF65-F5344CB8AC3E}">
        <p14:creationId xmlns:p14="http://schemas.microsoft.com/office/powerpoint/2010/main" val="25385796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5416EBC-B41E-4F8A-BE9F-07301B682C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AFF79527-C7F1-4E06-8126-A8E8C5FEBF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67EA705-9A02-9DBC-E806-B2777E734E07}"/>
              </a:ext>
            </a:extLst>
          </p:cNvPr>
          <p:cNvSpPr>
            <a:spLocks noGrp="1"/>
          </p:cNvSpPr>
          <p:nvPr>
            <p:ph type="title"/>
          </p:nvPr>
        </p:nvSpPr>
        <p:spPr>
          <a:xfrm>
            <a:off x="868680" y="1719072"/>
            <a:ext cx="3103427" cy="3520440"/>
          </a:xfrm>
        </p:spPr>
        <p:txBody>
          <a:bodyPr anchor="t">
            <a:normAutofit/>
          </a:bodyPr>
          <a:lstStyle/>
          <a:p>
            <a:r>
              <a:rPr lang="en-US" sz="3600" b="1"/>
              <a:t>BFS </a:t>
            </a:r>
            <a:r>
              <a:rPr lang="mk-MK" sz="3600" b="1"/>
              <a:t>и</a:t>
            </a:r>
            <a:r>
              <a:rPr lang="en-US" sz="3600" b="1"/>
              <a:t> DFS</a:t>
            </a:r>
            <a:endParaRPr lang="en-US" sz="3600"/>
          </a:p>
        </p:txBody>
      </p:sp>
      <p:sp>
        <p:nvSpPr>
          <p:cNvPr id="13" name="Rectangle 12">
            <a:extLst>
              <a:ext uri="{FF2B5EF4-FFF2-40B4-BE49-F238E27FC236}">
                <a16:creationId xmlns:a16="http://schemas.microsoft.com/office/drawing/2014/main" id="{55986208-8A53-4E92-9197-6B57BCCB2F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5" name="Content Placeholder 2">
            <a:extLst>
              <a:ext uri="{FF2B5EF4-FFF2-40B4-BE49-F238E27FC236}">
                <a16:creationId xmlns:a16="http://schemas.microsoft.com/office/drawing/2014/main" id="{158FFF2A-2AC8-E58B-00E3-54F4BC416D3A}"/>
              </a:ext>
            </a:extLst>
          </p:cNvPr>
          <p:cNvGraphicFramePr>
            <a:graphicFrameLocks noGrp="1"/>
          </p:cNvGraphicFramePr>
          <p:nvPr>
            <p:ph idx="1"/>
            <p:extLst>
              <p:ext uri="{D42A27DB-BD31-4B8C-83A1-F6EECF244321}">
                <p14:modId xmlns:p14="http://schemas.microsoft.com/office/powerpoint/2010/main" val="3906537715"/>
              </p:ext>
            </p:extLst>
          </p:nvPr>
        </p:nvGraphicFramePr>
        <p:xfrm>
          <a:off x="4727448" y="640080"/>
          <a:ext cx="6967728" cy="55778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26" name="Picture 2">
            <a:extLst>
              <a:ext uri="{FF2B5EF4-FFF2-40B4-BE49-F238E27FC236}">
                <a16:creationId xmlns:a16="http://schemas.microsoft.com/office/drawing/2014/main" id="{E6864F95-DD8F-D2B5-4B4E-849227FCF2D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7849" y="3091642"/>
            <a:ext cx="3721101" cy="19361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79657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D6FBB9D-1CAA-4D05-AB33-BABDFE17B8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04727B71-B4B6-4823-80A1-68C40B4751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79A6DB05-9FB5-4B07-8675-74C23D4FD8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6" name="Rectangle 15">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E13CD535-90C4-8C0C-8F58-F62D70387D0C}"/>
              </a:ext>
            </a:extLst>
          </p:cNvPr>
          <p:cNvSpPr>
            <a:spLocks noGrp="1"/>
          </p:cNvSpPr>
          <p:nvPr>
            <p:ph type="title"/>
          </p:nvPr>
        </p:nvSpPr>
        <p:spPr>
          <a:xfrm>
            <a:off x="841248" y="256032"/>
            <a:ext cx="10506456" cy="1014984"/>
          </a:xfrm>
        </p:spPr>
        <p:txBody>
          <a:bodyPr vert="horz" lIns="91440" tIns="45720" rIns="91440" bIns="45720" rtlCol="0" anchor="b">
            <a:normAutofit/>
          </a:bodyPr>
          <a:lstStyle/>
          <a:p>
            <a:r>
              <a:rPr lang="mk-MK" sz="4000" dirty="0"/>
              <a:t>Споредба на алгоритмите</a:t>
            </a:r>
            <a:endParaRPr lang="en-US" sz="4000" dirty="0"/>
          </a:p>
        </p:txBody>
      </p:sp>
      <p:sp>
        <p:nvSpPr>
          <p:cNvPr id="18" name="Rectangle 17">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9144"/>
          </a:xfrm>
          <a:prstGeom prst="rect">
            <a:avLst/>
          </a:prstGeom>
          <a:solidFill>
            <a:schemeClr val="tx1">
              <a:lumMod val="65000"/>
              <a:lumOff val="35000"/>
              <a:alpha val="30000"/>
            </a:schemeClr>
          </a:solidFill>
          <a:ln w="9525">
            <a:solidFill>
              <a:schemeClr val="tx1">
                <a:lumMod val="65000"/>
                <a:lumOff val="35000"/>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Rectangle 19">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4" name="Content Placeholder 3">
            <a:extLst>
              <a:ext uri="{FF2B5EF4-FFF2-40B4-BE49-F238E27FC236}">
                <a16:creationId xmlns:a16="http://schemas.microsoft.com/office/drawing/2014/main" id="{1C1B3E08-FACE-72CF-7DB6-2CDFD44EB1AA}"/>
              </a:ext>
            </a:extLst>
          </p:cNvPr>
          <p:cNvGraphicFramePr>
            <a:graphicFrameLocks noGrp="1"/>
          </p:cNvGraphicFramePr>
          <p:nvPr>
            <p:ph idx="4294967295"/>
            <p:extLst>
              <p:ext uri="{D42A27DB-BD31-4B8C-83A1-F6EECF244321}">
                <p14:modId xmlns:p14="http://schemas.microsoft.com/office/powerpoint/2010/main" val="1479710160"/>
              </p:ext>
            </p:extLst>
          </p:nvPr>
        </p:nvGraphicFramePr>
        <p:xfrm>
          <a:off x="839897" y="1926266"/>
          <a:ext cx="10512209" cy="4357526"/>
        </p:xfrm>
        <a:graphic>
          <a:graphicData uri="http://schemas.openxmlformats.org/drawingml/2006/table">
            <a:tbl>
              <a:tblPr firstRow="1" bandRow="1">
                <a:tableStyleId>{073A0DAA-6AF3-43AB-8588-CEC1D06C72B9}</a:tableStyleId>
              </a:tblPr>
              <a:tblGrid>
                <a:gridCol w="1404780">
                  <a:extLst>
                    <a:ext uri="{9D8B030D-6E8A-4147-A177-3AD203B41FA5}">
                      <a16:colId xmlns:a16="http://schemas.microsoft.com/office/drawing/2014/main" val="3793990861"/>
                    </a:ext>
                  </a:extLst>
                </a:gridCol>
                <a:gridCol w="1404780">
                  <a:extLst>
                    <a:ext uri="{9D8B030D-6E8A-4147-A177-3AD203B41FA5}">
                      <a16:colId xmlns:a16="http://schemas.microsoft.com/office/drawing/2014/main" val="1093835741"/>
                    </a:ext>
                  </a:extLst>
                </a:gridCol>
                <a:gridCol w="1404780">
                  <a:extLst>
                    <a:ext uri="{9D8B030D-6E8A-4147-A177-3AD203B41FA5}">
                      <a16:colId xmlns:a16="http://schemas.microsoft.com/office/drawing/2014/main" val="3562667521"/>
                    </a:ext>
                  </a:extLst>
                </a:gridCol>
                <a:gridCol w="1404780">
                  <a:extLst>
                    <a:ext uri="{9D8B030D-6E8A-4147-A177-3AD203B41FA5}">
                      <a16:colId xmlns:a16="http://schemas.microsoft.com/office/drawing/2014/main" val="3979882090"/>
                    </a:ext>
                  </a:extLst>
                </a:gridCol>
                <a:gridCol w="1596752">
                  <a:extLst>
                    <a:ext uri="{9D8B030D-6E8A-4147-A177-3AD203B41FA5}">
                      <a16:colId xmlns:a16="http://schemas.microsoft.com/office/drawing/2014/main" val="1104394781"/>
                    </a:ext>
                  </a:extLst>
                </a:gridCol>
                <a:gridCol w="1524305">
                  <a:extLst>
                    <a:ext uri="{9D8B030D-6E8A-4147-A177-3AD203B41FA5}">
                      <a16:colId xmlns:a16="http://schemas.microsoft.com/office/drawing/2014/main" val="844144393"/>
                    </a:ext>
                  </a:extLst>
                </a:gridCol>
                <a:gridCol w="1772032">
                  <a:extLst>
                    <a:ext uri="{9D8B030D-6E8A-4147-A177-3AD203B41FA5}">
                      <a16:colId xmlns:a16="http://schemas.microsoft.com/office/drawing/2014/main" val="1099171292"/>
                    </a:ext>
                  </a:extLst>
                </a:gridCol>
              </a:tblGrid>
              <a:tr h="558090">
                <a:tc>
                  <a:txBody>
                    <a:bodyPr/>
                    <a:lstStyle/>
                    <a:p>
                      <a:pPr algn="ctr"/>
                      <a:r>
                        <a:rPr lang="mk-MK" sz="1500" b="1" dirty="0"/>
                        <a:t>Алгоритам</a:t>
                      </a:r>
                      <a:endParaRPr lang="en-US" sz="1500" b="1" dirty="0"/>
                    </a:p>
                  </a:txBody>
                  <a:tcPr marL="74536" marR="74536" marT="37267" marB="37267" anchor="ctr"/>
                </a:tc>
                <a:tc>
                  <a:txBody>
                    <a:bodyPr/>
                    <a:lstStyle/>
                    <a:p>
                      <a:pPr algn="ctr"/>
                      <a:r>
                        <a:rPr lang="mk-MK" sz="1500" b="1" dirty="0"/>
                        <a:t>Најкраток пат?</a:t>
                      </a:r>
                      <a:endParaRPr lang="en-US" sz="1500" b="1" dirty="0"/>
                    </a:p>
                  </a:txBody>
                  <a:tcPr marL="74536" marR="74536" marT="37267" marB="37267" anchor="ctr"/>
                </a:tc>
                <a:tc>
                  <a:txBody>
                    <a:bodyPr/>
                    <a:lstStyle/>
                    <a:p>
                      <a:pPr algn="ctr"/>
                      <a:r>
                        <a:rPr lang="mk-MK" sz="1500" b="1"/>
                        <a:t>Брзина</a:t>
                      </a:r>
                      <a:endParaRPr lang="en-US" sz="1500" b="1"/>
                    </a:p>
                  </a:txBody>
                  <a:tcPr marL="74536" marR="74536" marT="37267" marB="37267" anchor="ctr"/>
                </a:tc>
                <a:tc>
                  <a:txBody>
                    <a:bodyPr/>
                    <a:lstStyle/>
                    <a:p>
                      <a:pPr algn="ctr"/>
                      <a:r>
                        <a:rPr lang="mk-MK" sz="1500" b="1"/>
                        <a:t>Употреба на меморија</a:t>
                      </a:r>
                      <a:endParaRPr lang="en-US" sz="1500" b="1"/>
                    </a:p>
                  </a:txBody>
                  <a:tcPr marL="74536" marR="74536" marT="37267" marB="37267" anchor="ctr"/>
                </a:tc>
                <a:tc>
                  <a:txBody>
                    <a:bodyPr/>
                    <a:lstStyle/>
                    <a:p>
                      <a:pPr algn="ctr"/>
                      <a:r>
                        <a:rPr lang="mk-MK" sz="1500" b="1"/>
                        <a:t>Најдобра примена</a:t>
                      </a:r>
                      <a:endParaRPr lang="en-US" sz="1500" b="1"/>
                    </a:p>
                  </a:txBody>
                  <a:tcPr marL="74536" marR="74536" marT="37267" marB="37267" anchor="ctr"/>
                </a:tc>
                <a:tc>
                  <a:txBody>
                    <a:bodyPr/>
                    <a:lstStyle/>
                    <a:p>
                      <a:pPr algn="ctr"/>
                      <a:r>
                        <a:rPr lang="mk-MK" sz="1500" b="1"/>
                        <a:t>Добри страни</a:t>
                      </a:r>
                      <a:endParaRPr lang="en-US" sz="1500" b="1"/>
                    </a:p>
                  </a:txBody>
                  <a:tcPr marL="74536" marR="74536" marT="37267" marB="37267" anchor="ctr"/>
                </a:tc>
                <a:tc>
                  <a:txBody>
                    <a:bodyPr/>
                    <a:lstStyle/>
                    <a:p>
                      <a:pPr algn="ctr"/>
                      <a:r>
                        <a:rPr lang="mk-MK" sz="1500" b="1" dirty="0"/>
                        <a:t>Лоши страни</a:t>
                      </a:r>
                      <a:endParaRPr lang="en-US" sz="1500" b="1" dirty="0"/>
                    </a:p>
                  </a:txBody>
                  <a:tcPr marL="74536" marR="74536" marT="37267" marB="37267" anchor="ctr"/>
                </a:tc>
                <a:extLst>
                  <a:ext uri="{0D108BD9-81ED-4DB2-BD59-A6C34878D82A}">
                    <a16:rowId xmlns:a16="http://schemas.microsoft.com/office/drawing/2014/main" val="3859113702"/>
                  </a:ext>
                </a:extLst>
              </a:tr>
              <a:tr h="1005826">
                <a:tc>
                  <a:txBody>
                    <a:bodyPr/>
                    <a:lstStyle/>
                    <a:p>
                      <a:pPr algn="ctr"/>
                      <a:r>
                        <a:rPr lang="mk-MK" sz="1500" b="1"/>
                        <a:t>А*</a:t>
                      </a:r>
                      <a:endParaRPr lang="en-US" sz="1500" b="1"/>
                    </a:p>
                  </a:txBody>
                  <a:tcPr marL="74536" marR="74536" marT="37267" marB="37267" anchor="ctr"/>
                </a:tc>
                <a:tc>
                  <a:txBody>
                    <a:bodyPr/>
                    <a:lstStyle/>
                    <a:p>
                      <a:pPr algn="ctr"/>
                      <a:r>
                        <a:rPr lang="mk-MK" sz="1500" b="1" dirty="0"/>
                        <a:t>Да</a:t>
                      </a:r>
                      <a:endParaRPr lang="en-US" sz="1500" b="1" dirty="0"/>
                    </a:p>
                  </a:txBody>
                  <a:tcPr marL="74536" marR="74536" marT="37267" marB="37267" anchor="ctr"/>
                </a:tc>
                <a:tc>
                  <a:txBody>
                    <a:bodyPr/>
                    <a:lstStyle/>
                    <a:p>
                      <a:pPr algn="ctr"/>
                      <a:r>
                        <a:rPr lang="mk-MK" sz="1500" b="1" dirty="0"/>
                        <a:t>Брзо</a:t>
                      </a:r>
                      <a:endParaRPr lang="en-US" sz="1500" b="1" dirty="0"/>
                    </a:p>
                  </a:txBody>
                  <a:tcPr marL="74536" marR="74536" marT="37267" marB="37267" anchor="ctr"/>
                </a:tc>
                <a:tc>
                  <a:txBody>
                    <a:bodyPr/>
                    <a:lstStyle/>
                    <a:p>
                      <a:pPr algn="ctr"/>
                      <a:r>
                        <a:rPr lang="mk-MK" sz="1500" b="1"/>
                        <a:t>Висока</a:t>
                      </a:r>
                      <a:endParaRPr lang="en-US" sz="1500" b="1"/>
                    </a:p>
                  </a:txBody>
                  <a:tcPr marL="74536" marR="74536" marT="37267" marB="37267" anchor="ctr"/>
                </a:tc>
                <a:tc>
                  <a:txBody>
                    <a:bodyPr/>
                    <a:lstStyle/>
                    <a:p>
                      <a:pPr algn="ctr"/>
                      <a:r>
                        <a:rPr lang="mk-MK" sz="1500" b="1"/>
                        <a:t>Голем број игри (</a:t>
                      </a:r>
                      <a:r>
                        <a:rPr lang="en-US" sz="1500" b="1"/>
                        <a:t>RPG, </a:t>
                      </a:r>
                      <a:r>
                        <a:rPr lang="mk-MK" sz="1500" b="1"/>
                        <a:t>Акција)</a:t>
                      </a:r>
                      <a:endParaRPr lang="en-US" sz="1500" b="1"/>
                    </a:p>
                  </a:txBody>
                  <a:tcPr marL="74536" marR="74536" marT="37267" marB="37267" anchor="ctr"/>
                </a:tc>
                <a:tc>
                  <a:txBody>
                    <a:bodyPr/>
                    <a:lstStyle/>
                    <a:p>
                      <a:pPr algn="ctr"/>
                      <a:r>
                        <a:rPr lang="mk-MK" sz="1500" b="1"/>
                        <a:t>Ефикасен, балансира брзина и прецизност</a:t>
                      </a:r>
                      <a:endParaRPr lang="en-US" sz="1500" b="1"/>
                    </a:p>
                  </a:txBody>
                  <a:tcPr marL="74536" marR="74536" marT="37267" marB="37267" anchor="ctr"/>
                </a:tc>
                <a:tc>
                  <a:txBody>
                    <a:bodyPr/>
                    <a:lstStyle/>
                    <a:p>
                      <a:pPr algn="ctr"/>
                      <a:r>
                        <a:rPr lang="mk-MK" sz="1500" b="1"/>
                        <a:t>Користи многу ресурси</a:t>
                      </a:r>
                      <a:endParaRPr lang="en-US" sz="1500" b="1"/>
                    </a:p>
                  </a:txBody>
                  <a:tcPr marL="74536" marR="74536" marT="37267" marB="37267" anchor="ctr"/>
                </a:tc>
                <a:extLst>
                  <a:ext uri="{0D108BD9-81ED-4DB2-BD59-A6C34878D82A}">
                    <a16:rowId xmlns:a16="http://schemas.microsoft.com/office/drawing/2014/main" val="2437843029"/>
                  </a:ext>
                </a:extLst>
              </a:tr>
              <a:tr h="1005826">
                <a:tc>
                  <a:txBody>
                    <a:bodyPr/>
                    <a:lstStyle/>
                    <a:p>
                      <a:pPr algn="ctr"/>
                      <a:r>
                        <a:rPr lang="mk-MK" sz="1500" b="1"/>
                        <a:t>Дијкстра</a:t>
                      </a:r>
                      <a:endParaRPr lang="en-US" sz="1500" b="1"/>
                    </a:p>
                  </a:txBody>
                  <a:tcPr marL="74536" marR="74536" marT="37267" marB="37267" anchor="ctr"/>
                </a:tc>
                <a:tc>
                  <a:txBody>
                    <a:bodyPr/>
                    <a:lstStyle/>
                    <a:p>
                      <a:pPr algn="ctr"/>
                      <a:r>
                        <a:rPr lang="mk-MK" sz="1500" b="1"/>
                        <a:t>Да</a:t>
                      </a:r>
                      <a:endParaRPr lang="en-US" sz="1500" b="1"/>
                    </a:p>
                  </a:txBody>
                  <a:tcPr marL="74536" marR="74536" marT="37267" marB="37267" anchor="ctr"/>
                </a:tc>
                <a:tc>
                  <a:txBody>
                    <a:bodyPr/>
                    <a:lstStyle/>
                    <a:p>
                      <a:pPr algn="ctr"/>
                      <a:r>
                        <a:rPr lang="mk-MK" sz="1500" b="1" dirty="0"/>
                        <a:t>Средна</a:t>
                      </a:r>
                      <a:endParaRPr lang="en-US" sz="1500" b="1" dirty="0"/>
                    </a:p>
                  </a:txBody>
                  <a:tcPr marL="74536" marR="74536" marT="37267" marB="37267" anchor="ctr"/>
                </a:tc>
                <a:tc>
                  <a:txBody>
                    <a:bodyPr/>
                    <a:lstStyle/>
                    <a:p>
                      <a:pPr algn="ctr"/>
                      <a:r>
                        <a:rPr lang="mk-MK" sz="1500" b="1"/>
                        <a:t>Средна</a:t>
                      </a:r>
                      <a:endParaRPr lang="en-US" sz="1500" b="1"/>
                    </a:p>
                  </a:txBody>
                  <a:tcPr marL="74536" marR="74536" marT="37267" marB="37267" anchor="ctr"/>
                </a:tc>
                <a:tc>
                  <a:txBody>
                    <a:bodyPr/>
                    <a:lstStyle/>
                    <a:p>
                      <a:pPr algn="ctr"/>
                      <a:r>
                        <a:rPr lang="mk-MK" sz="1500" b="1"/>
                        <a:t>Мапи во форма на грид</a:t>
                      </a:r>
                      <a:endParaRPr lang="en-US" sz="1500" b="1"/>
                    </a:p>
                  </a:txBody>
                  <a:tcPr marL="74536" marR="74536" marT="37267" marB="37267" anchor="ctr"/>
                </a:tc>
                <a:tc>
                  <a:txBody>
                    <a:bodyPr/>
                    <a:lstStyle/>
                    <a:p>
                      <a:pPr algn="ctr"/>
                      <a:r>
                        <a:rPr lang="mk-MK" sz="1500" b="1"/>
                        <a:t>Секогаш го наоѓа најкраткиот пат</a:t>
                      </a:r>
                      <a:endParaRPr lang="en-US" sz="1500" b="1"/>
                    </a:p>
                  </a:txBody>
                  <a:tcPr marL="74536" marR="74536" marT="37267" marB="37267" anchor="ctr"/>
                </a:tc>
                <a:tc>
                  <a:txBody>
                    <a:bodyPr/>
                    <a:lstStyle/>
                    <a:p>
                      <a:pPr algn="ctr"/>
                      <a:r>
                        <a:rPr lang="mk-MK" sz="1500" b="1"/>
                        <a:t>Поспор од А*</a:t>
                      </a:r>
                      <a:endParaRPr lang="en-US" sz="1500" b="1"/>
                    </a:p>
                  </a:txBody>
                  <a:tcPr marL="74536" marR="74536" marT="37267" marB="37267" anchor="ctr"/>
                </a:tc>
                <a:extLst>
                  <a:ext uri="{0D108BD9-81ED-4DB2-BD59-A6C34878D82A}">
                    <a16:rowId xmlns:a16="http://schemas.microsoft.com/office/drawing/2014/main" val="3474934547"/>
                  </a:ext>
                </a:extLst>
              </a:tr>
              <a:tr h="1005826">
                <a:tc>
                  <a:txBody>
                    <a:bodyPr/>
                    <a:lstStyle/>
                    <a:p>
                      <a:pPr algn="ctr"/>
                      <a:r>
                        <a:rPr lang="en-US" sz="1500" b="1"/>
                        <a:t>BFS</a:t>
                      </a:r>
                    </a:p>
                  </a:txBody>
                  <a:tcPr marL="74536" marR="74536" marT="37267" marB="37267" anchor="ctr"/>
                </a:tc>
                <a:tc>
                  <a:txBody>
                    <a:bodyPr/>
                    <a:lstStyle/>
                    <a:p>
                      <a:pPr algn="ctr"/>
                      <a:r>
                        <a:rPr lang="mk-MK" sz="1500" b="1"/>
                        <a:t>Да</a:t>
                      </a:r>
                      <a:endParaRPr lang="en-US" sz="1500" b="1"/>
                    </a:p>
                  </a:txBody>
                  <a:tcPr marL="74536" marR="74536" marT="37267" marB="37267" anchor="ctr"/>
                </a:tc>
                <a:tc>
                  <a:txBody>
                    <a:bodyPr/>
                    <a:lstStyle/>
                    <a:p>
                      <a:pPr algn="ctr"/>
                      <a:r>
                        <a:rPr lang="mk-MK" sz="1500" b="1"/>
                        <a:t>Средна</a:t>
                      </a:r>
                      <a:endParaRPr lang="en-US" sz="1500" b="1"/>
                    </a:p>
                  </a:txBody>
                  <a:tcPr marL="74536" marR="74536" marT="37267" marB="37267" anchor="ctr"/>
                </a:tc>
                <a:tc>
                  <a:txBody>
                    <a:bodyPr/>
                    <a:lstStyle/>
                    <a:p>
                      <a:pPr algn="ctr"/>
                      <a:r>
                        <a:rPr lang="mk-MK" sz="1500" b="1"/>
                        <a:t>Висока</a:t>
                      </a:r>
                      <a:endParaRPr lang="en-US" sz="1500" b="1"/>
                    </a:p>
                  </a:txBody>
                  <a:tcPr marL="74536" marR="74536" marT="37267" marB="37267" anchor="ctr"/>
                </a:tc>
                <a:tc>
                  <a:txBody>
                    <a:bodyPr/>
                    <a:lstStyle/>
                    <a:p>
                      <a:pPr algn="ctr"/>
                      <a:r>
                        <a:rPr lang="mk-MK" sz="1500" b="1"/>
                        <a:t>Решавање лавиринти и едноставна ВИ</a:t>
                      </a:r>
                      <a:endParaRPr lang="en-US" sz="1500" b="1"/>
                    </a:p>
                  </a:txBody>
                  <a:tcPr marL="74536" marR="74536" marT="37267" marB="37267" anchor="ctr"/>
                </a:tc>
                <a:tc>
                  <a:txBody>
                    <a:bodyPr/>
                    <a:lstStyle/>
                    <a:p>
                      <a:pPr algn="ctr"/>
                      <a:r>
                        <a:rPr lang="mk-MK" sz="1500" b="1"/>
                        <a:t>Најкраток пат во бестежински графови</a:t>
                      </a:r>
                      <a:endParaRPr lang="en-US" sz="1500" b="1"/>
                    </a:p>
                  </a:txBody>
                  <a:tcPr marL="74536" marR="74536" marT="37267" marB="37267" anchor="ctr"/>
                </a:tc>
                <a:tc>
                  <a:txBody>
                    <a:bodyPr/>
                    <a:lstStyle/>
                    <a:p>
                      <a:pPr algn="ctr"/>
                      <a:r>
                        <a:rPr lang="mk-MK" sz="1500" b="1"/>
                        <a:t>Висока искористеност на меморија</a:t>
                      </a:r>
                      <a:endParaRPr lang="en-US" sz="1500" b="1"/>
                    </a:p>
                  </a:txBody>
                  <a:tcPr marL="74536" marR="74536" marT="37267" marB="37267" anchor="ctr"/>
                </a:tc>
                <a:extLst>
                  <a:ext uri="{0D108BD9-81ED-4DB2-BD59-A6C34878D82A}">
                    <a16:rowId xmlns:a16="http://schemas.microsoft.com/office/drawing/2014/main" val="3010351987"/>
                  </a:ext>
                </a:extLst>
              </a:tr>
              <a:tr h="781958">
                <a:tc>
                  <a:txBody>
                    <a:bodyPr/>
                    <a:lstStyle/>
                    <a:p>
                      <a:pPr algn="ctr"/>
                      <a:r>
                        <a:rPr lang="en-US" sz="1500" b="1"/>
                        <a:t>DFS</a:t>
                      </a:r>
                    </a:p>
                  </a:txBody>
                  <a:tcPr marL="74536" marR="74536" marT="37267" marB="37267" anchor="ctr"/>
                </a:tc>
                <a:tc>
                  <a:txBody>
                    <a:bodyPr/>
                    <a:lstStyle/>
                    <a:p>
                      <a:pPr algn="ctr"/>
                      <a:r>
                        <a:rPr lang="mk-MK" sz="1500" b="1"/>
                        <a:t>Не </a:t>
                      </a:r>
                      <a:endParaRPr lang="en-US" sz="1500" b="1"/>
                    </a:p>
                  </a:txBody>
                  <a:tcPr marL="74536" marR="74536" marT="37267" marB="37267" anchor="ctr"/>
                </a:tc>
                <a:tc>
                  <a:txBody>
                    <a:bodyPr/>
                    <a:lstStyle/>
                    <a:p>
                      <a:pPr algn="ctr"/>
                      <a:r>
                        <a:rPr lang="mk-MK" sz="1500" b="1"/>
                        <a:t>Брзо</a:t>
                      </a:r>
                      <a:endParaRPr lang="en-US" sz="1500" b="1"/>
                    </a:p>
                  </a:txBody>
                  <a:tcPr marL="74536" marR="74536" marT="37267" marB="37267" anchor="ctr"/>
                </a:tc>
                <a:tc>
                  <a:txBody>
                    <a:bodyPr/>
                    <a:lstStyle/>
                    <a:p>
                      <a:pPr algn="ctr"/>
                      <a:r>
                        <a:rPr lang="mk-MK" sz="1500" b="1"/>
                        <a:t>Ниско</a:t>
                      </a:r>
                      <a:endParaRPr lang="en-US" sz="1500" b="1"/>
                    </a:p>
                  </a:txBody>
                  <a:tcPr marL="74536" marR="74536" marT="37267" marB="37267" anchor="ctr"/>
                </a:tc>
                <a:tc>
                  <a:txBody>
                    <a:bodyPr/>
                    <a:lstStyle/>
                    <a:p>
                      <a:pPr algn="ctr"/>
                      <a:r>
                        <a:rPr lang="mk-MK" sz="1500" b="1"/>
                        <a:t>Вештачка интелигенција</a:t>
                      </a:r>
                      <a:endParaRPr lang="en-US" sz="1500" b="1"/>
                    </a:p>
                  </a:txBody>
                  <a:tcPr marL="74536" marR="74536" marT="37267" marB="37267" anchor="ctr"/>
                </a:tc>
                <a:tc>
                  <a:txBody>
                    <a:bodyPr/>
                    <a:lstStyle/>
                    <a:p>
                      <a:pPr algn="ctr"/>
                      <a:r>
                        <a:rPr lang="mk-MK" sz="1500" b="1"/>
                        <a:t>Користи малку меморија</a:t>
                      </a:r>
                      <a:endParaRPr lang="en-US" sz="1500" b="1"/>
                    </a:p>
                  </a:txBody>
                  <a:tcPr marL="74536" marR="74536" marT="37267" marB="37267" anchor="ctr"/>
                </a:tc>
                <a:tc>
                  <a:txBody>
                    <a:bodyPr/>
                    <a:lstStyle/>
                    <a:p>
                      <a:pPr algn="ctr"/>
                      <a:r>
                        <a:rPr lang="mk-MK" sz="1500" b="1" dirty="0"/>
                        <a:t>Не наоѓа најкраток пат</a:t>
                      </a:r>
                    </a:p>
                  </a:txBody>
                  <a:tcPr marL="74536" marR="74536" marT="37267" marB="37267" anchor="ctr"/>
                </a:tc>
                <a:extLst>
                  <a:ext uri="{0D108BD9-81ED-4DB2-BD59-A6C34878D82A}">
                    <a16:rowId xmlns:a16="http://schemas.microsoft.com/office/drawing/2014/main" val="2010600405"/>
                  </a:ext>
                </a:extLst>
              </a:tr>
            </a:tbl>
          </a:graphicData>
        </a:graphic>
      </p:graphicFrame>
    </p:spTree>
    <p:extLst>
      <p:ext uri="{BB962C8B-B14F-4D97-AF65-F5344CB8AC3E}">
        <p14:creationId xmlns:p14="http://schemas.microsoft.com/office/powerpoint/2010/main" val="38741494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E285751-1031-16BA-BCCE-19EDCC84438A}"/>
              </a:ext>
            </a:extLst>
          </p:cNvPr>
          <p:cNvSpPr>
            <a:spLocks noGrp="1"/>
          </p:cNvSpPr>
          <p:nvPr>
            <p:ph type="title"/>
          </p:nvPr>
        </p:nvSpPr>
        <p:spPr/>
        <p:txBody>
          <a:bodyPr/>
          <a:lstStyle/>
          <a:p>
            <a:r>
              <a:rPr lang="en-US" dirty="0"/>
              <a:t>3D </a:t>
            </a:r>
            <a:r>
              <a:rPr lang="mk-MK" dirty="0"/>
              <a:t>рендерирање</a:t>
            </a:r>
            <a:endParaRPr lang="en-US" dirty="0"/>
          </a:p>
        </p:txBody>
      </p:sp>
      <p:sp>
        <p:nvSpPr>
          <p:cNvPr id="6" name="Content Placeholder 5">
            <a:extLst>
              <a:ext uri="{FF2B5EF4-FFF2-40B4-BE49-F238E27FC236}">
                <a16:creationId xmlns:a16="http://schemas.microsoft.com/office/drawing/2014/main" id="{321F4BDD-5019-D55D-83CD-F9532EA3F933}"/>
              </a:ext>
            </a:extLst>
          </p:cNvPr>
          <p:cNvSpPr>
            <a:spLocks noGrp="1"/>
          </p:cNvSpPr>
          <p:nvPr>
            <p:ph idx="1"/>
          </p:nvPr>
        </p:nvSpPr>
        <p:spPr/>
        <p:txBody>
          <a:bodyPr>
            <a:normAutofit/>
          </a:bodyPr>
          <a:lstStyle/>
          <a:p>
            <a:pPr algn="l">
              <a:buFont typeface="Arial" panose="020B0604020202020204" pitchFamily="34" charset="0"/>
              <a:buChar char="•"/>
            </a:pPr>
            <a:r>
              <a:rPr lang="ru-RU" b="0" i="0" dirty="0">
                <a:effectLst/>
                <a:latin typeface="Inter"/>
              </a:rPr>
              <a:t>Процес на претворање на 3D модели во 2D слики.</a:t>
            </a:r>
          </a:p>
          <a:p>
            <a:pPr algn="l">
              <a:spcBef>
                <a:spcPts val="300"/>
              </a:spcBef>
              <a:buFont typeface="Arial" panose="020B0604020202020204" pitchFamily="34" charset="0"/>
              <a:buChar char="•"/>
            </a:pPr>
            <a:r>
              <a:rPr lang="ru-RU" b="0" i="0" dirty="0">
                <a:effectLst/>
                <a:latin typeface="Inter"/>
              </a:rPr>
              <a:t>Клучни компоненти: Моделирање, Текстурирање, Осветлување, Рендерирање.</a:t>
            </a:r>
            <a:endParaRPr lang="en-US" b="0" i="0" dirty="0">
              <a:effectLst/>
              <a:latin typeface="Inter"/>
            </a:endParaRPr>
          </a:p>
          <a:p>
            <a:pPr algn="l">
              <a:spcBef>
                <a:spcPts val="300"/>
              </a:spcBef>
              <a:buFont typeface="Arial" panose="020B0604020202020204" pitchFamily="34" charset="0"/>
              <a:buChar char="•"/>
            </a:pPr>
            <a:r>
              <a:rPr lang="ru-RU" b="0" i="0" dirty="0">
                <a:effectLst/>
                <a:latin typeface="Inter"/>
              </a:rPr>
              <a:t>Растеризација: Претворање на </a:t>
            </a:r>
            <a:r>
              <a:rPr lang="mk-MK" dirty="0">
                <a:latin typeface="Inter"/>
              </a:rPr>
              <a:t>објекти</a:t>
            </a:r>
            <a:r>
              <a:rPr lang="ru-RU" b="0" i="0" dirty="0">
                <a:effectLst/>
                <a:latin typeface="Inter"/>
              </a:rPr>
              <a:t> во пиксели.</a:t>
            </a:r>
          </a:p>
          <a:p>
            <a:pPr algn="l">
              <a:spcBef>
                <a:spcPts val="300"/>
              </a:spcBef>
              <a:buFont typeface="Arial" panose="020B0604020202020204" pitchFamily="34" charset="0"/>
              <a:buChar char="•"/>
            </a:pPr>
            <a:r>
              <a:rPr lang="ru-RU" b="0" i="0" dirty="0">
                <a:effectLst/>
                <a:latin typeface="Inter"/>
              </a:rPr>
              <a:t>Обработка на пиксели: Додавање на бои, текстури и осветлување.</a:t>
            </a:r>
          </a:p>
          <a:p>
            <a:pPr algn="l">
              <a:spcBef>
                <a:spcPts val="300"/>
              </a:spcBef>
              <a:buFont typeface="Arial" panose="020B0604020202020204" pitchFamily="34" charset="0"/>
              <a:buChar char="•"/>
            </a:pPr>
            <a:r>
              <a:rPr lang="ru-RU" b="0" i="0" dirty="0">
                <a:effectLst/>
                <a:latin typeface="Inter"/>
              </a:rPr>
              <a:t>Излез: Приказ на конечната слика.</a:t>
            </a:r>
          </a:p>
          <a:p>
            <a:pPr algn="l">
              <a:spcBef>
                <a:spcPts val="300"/>
              </a:spcBef>
              <a:buFont typeface="Arial" panose="020B0604020202020204" pitchFamily="34" charset="0"/>
              <a:buChar char="•"/>
            </a:pPr>
            <a:endParaRPr lang="ru-RU" b="0" i="0" dirty="0">
              <a:effectLst/>
              <a:latin typeface="Inter"/>
            </a:endParaRPr>
          </a:p>
          <a:p>
            <a:pPr algn="l">
              <a:spcBef>
                <a:spcPts val="300"/>
              </a:spcBef>
              <a:buFont typeface="Arial" panose="020B0604020202020204" pitchFamily="34" charset="0"/>
              <a:buChar char="•"/>
            </a:pPr>
            <a:endParaRPr lang="ru-RU" b="0" i="0" dirty="0">
              <a:effectLst/>
              <a:latin typeface="Inter"/>
            </a:endParaRPr>
          </a:p>
          <a:p>
            <a:endParaRPr lang="en-US" dirty="0"/>
          </a:p>
        </p:txBody>
      </p:sp>
    </p:spTree>
    <p:extLst>
      <p:ext uri="{BB962C8B-B14F-4D97-AF65-F5344CB8AC3E}">
        <p14:creationId xmlns:p14="http://schemas.microsoft.com/office/powerpoint/2010/main" val="22765485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89" name="Rectangle 3088">
            <a:extLst>
              <a:ext uri="{FF2B5EF4-FFF2-40B4-BE49-F238E27FC236}">
                <a16:creationId xmlns:a16="http://schemas.microsoft.com/office/drawing/2014/main" id="{0B9EE3F3-89B7-43C3-8651-C4C968309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5C61B3F-3324-08BE-BB13-06CBE930AFFD}"/>
              </a:ext>
            </a:extLst>
          </p:cNvPr>
          <p:cNvSpPr>
            <a:spLocks noGrp="1"/>
          </p:cNvSpPr>
          <p:nvPr>
            <p:ph type="title"/>
          </p:nvPr>
        </p:nvSpPr>
        <p:spPr>
          <a:xfrm>
            <a:off x="411480" y="991443"/>
            <a:ext cx="4443154" cy="1087819"/>
          </a:xfrm>
        </p:spPr>
        <p:txBody>
          <a:bodyPr anchor="b">
            <a:normAutofit/>
          </a:bodyPr>
          <a:lstStyle/>
          <a:p>
            <a:r>
              <a:rPr lang="mk-MK" sz="3400"/>
              <a:t>Клучни техники во 3</a:t>
            </a:r>
            <a:r>
              <a:rPr lang="en-US" sz="3400"/>
              <a:t>D </a:t>
            </a:r>
            <a:r>
              <a:rPr lang="mk-MK" sz="3400"/>
              <a:t>рендерирање </a:t>
            </a:r>
            <a:endParaRPr lang="en-US" sz="3400"/>
          </a:p>
        </p:txBody>
      </p:sp>
      <p:sp>
        <p:nvSpPr>
          <p:cNvPr id="3090" name="Rectangle 3089">
            <a:extLst>
              <a:ext uri="{FF2B5EF4-FFF2-40B4-BE49-F238E27FC236}">
                <a16:creationId xmlns:a16="http://schemas.microsoft.com/office/drawing/2014/main" id="{33AE4636-AEEC-45D6-84D4-7AC2DA48E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91" name="Rectangle 3090">
            <a:extLst>
              <a:ext uri="{FF2B5EF4-FFF2-40B4-BE49-F238E27FC236}">
                <a16:creationId xmlns:a16="http://schemas.microsoft.com/office/drawing/2014/main" id="{8D9CE0F4-2EB2-4F1F-8AAC-DB3571D9FE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5541"/>
            <a:ext cx="438912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9A9BFC3F-FA79-29B2-87AB-AA7722FB415B}"/>
              </a:ext>
            </a:extLst>
          </p:cNvPr>
          <p:cNvSpPr>
            <a:spLocks noGrp="1"/>
          </p:cNvSpPr>
          <p:nvPr>
            <p:ph idx="1"/>
          </p:nvPr>
        </p:nvSpPr>
        <p:spPr>
          <a:xfrm>
            <a:off x="411480" y="2684095"/>
            <a:ext cx="4443154" cy="3492868"/>
          </a:xfrm>
        </p:spPr>
        <p:txBody>
          <a:bodyPr>
            <a:normAutofit/>
          </a:bodyPr>
          <a:lstStyle/>
          <a:p>
            <a:r>
              <a:rPr lang="ru-RU" sz="1700" dirty="0"/>
              <a:t>Растеризација: Брза, се користи во реално време во игри.</a:t>
            </a:r>
          </a:p>
          <a:p>
            <a:r>
              <a:rPr lang="ru-RU" sz="1600" dirty="0"/>
              <a:t>Ray Tracing</a:t>
            </a:r>
            <a:r>
              <a:rPr lang="ru-RU" sz="1700" dirty="0"/>
              <a:t>: Реалистично осветлување, рефлексии и сенки.</a:t>
            </a:r>
          </a:p>
          <a:p>
            <a:r>
              <a:rPr lang="ru-RU" sz="1700" dirty="0"/>
              <a:t>Хибридно Рендерирање: Комбинација на двете за баланс.</a:t>
            </a:r>
            <a:endParaRPr lang="en-US" sz="1700" dirty="0"/>
          </a:p>
        </p:txBody>
      </p:sp>
      <p:pic>
        <p:nvPicPr>
          <p:cNvPr id="3074" name="Picture 2" descr="A diagram of different types of objects&#10;&#10;AI-generated content may be incorrect.">
            <a:extLst>
              <a:ext uri="{FF2B5EF4-FFF2-40B4-BE49-F238E27FC236}">
                <a16:creationId xmlns:a16="http://schemas.microsoft.com/office/drawing/2014/main" id="{7347910A-C86B-D2E9-1454-0EFB1A4F4C9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385816" y="1589954"/>
            <a:ext cx="6440424" cy="36227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99318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903FD9-9D6C-83FD-7096-DE129D418707}"/>
              </a:ext>
            </a:extLst>
          </p:cNvPr>
          <p:cNvSpPr>
            <a:spLocks noGrp="1"/>
          </p:cNvSpPr>
          <p:nvPr>
            <p:ph type="title"/>
          </p:nvPr>
        </p:nvSpPr>
        <p:spPr/>
        <p:txBody>
          <a:bodyPr/>
          <a:lstStyle/>
          <a:p>
            <a:r>
              <a:rPr lang="mk-MK"/>
              <a:t>Идни Трендови</a:t>
            </a:r>
            <a:endParaRPr lang="en-US" dirty="0"/>
          </a:p>
        </p:txBody>
      </p:sp>
      <p:sp>
        <p:nvSpPr>
          <p:cNvPr id="3" name="Content Placeholder 2">
            <a:extLst>
              <a:ext uri="{FF2B5EF4-FFF2-40B4-BE49-F238E27FC236}">
                <a16:creationId xmlns:a16="http://schemas.microsoft.com/office/drawing/2014/main" id="{3DEA64CF-6FE6-89A1-E6EB-681AEA173742}"/>
              </a:ext>
            </a:extLst>
          </p:cNvPr>
          <p:cNvSpPr>
            <a:spLocks noGrp="1"/>
          </p:cNvSpPr>
          <p:nvPr>
            <p:ph idx="1"/>
          </p:nvPr>
        </p:nvSpPr>
        <p:spPr/>
        <p:txBody>
          <a:bodyPr>
            <a:normAutofit lnSpcReduction="10000"/>
          </a:bodyPr>
          <a:lstStyle/>
          <a:p>
            <a:r>
              <a:rPr lang="ru-RU" sz="2000"/>
              <a:t>Ray Tracing </a:t>
            </a:r>
            <a:r>
              <a:rPr lang="en-US" sz="2000"/>
              <a:t>- </a:t>
            </a:r>
            <a:r>
              <a:rPr lang="ru-RU"/>
              <a:t>технологија што симулира како светлината се однесува во реалниот свет (рефлексии, сенки, прекршување) за да создаде ултрареалистични визуелни ефекти. </a:t>
            </a:r>
            <a:r>
              <a:rPr lang="mk-MK"/>
              <a:t>С</a:t>
            </a:r>
            <a:r>
              <a:rPr lang="ru-RU"/>
              <a:t>о </a:t>
            </a:r>
            <a:r>
              <a:rPr lang="ru-RU" sz="2000"/>
              <a:t>NVIDIA RTX </a:t>
            </a:r>
            <a:r>
              <a:rPr lang="ru-RU" sz="2200"/>
              <a:t>графички</a:t>
            </a:r>
            <a:r>
              <a:rPr lang="ru-RU"/>
              <a:t>, сега може да се користи во реално време во видеоигри.</a:t>
            </a:r>
            <a:r>
              <a:rPr lang="en-US"/>
              <a:t> (</a:t>
            </a:r>
            <a:r>
              <a:rPr lang="en-US" sz="2200"/>
              <a:t>Cyberpunk 2077, Control</a:t>
            </a:r>
            <a:r>
              <a:rPr lang="en-US"/>
              <a:t>)</a:t>
            </a:r>
            <a:endParaRPr lang="ru-RU"/>
          </a:p>
          <a:p>
            <a:r>
              <a:rPr lang="ru-RU"/>
              <a:t>Рендерирање со вештачка интелигенција </a:t>
            </a:r>
            <a:r>
              <a:rPr lang="ru-RU" sz="2200"/>
              <a:t>Deep Learning Super Sampling (DLSS) </a:t>
            </a:r>
            <a:r>
              <a:rPr lang="ru-RU"/>
              <a:t>е ВИ-технологија од </a:t>
            </a:r>
            <a:r>
              <a:rPr lang="ru-RU" sz="2200"/>
              <a:t>NVIDIA</a:t>
            </a:r>
            <a:r>
              <a:rPr lang="ru-RU"/>
              <a:t> што ги подобрува перформансите на игрите без губење на квалитет. Користи невронски мрежи за да ја „зголеми“ резолуцијата на сликата во реално време, овозможувајќи игри да се прикажуваат со повеќе слики во секунда.</a:t>
            </a:r>
            <a:endParaRPr lang="ru-RU" dirty="0"/>
          </a:p>
        </p:txBody>
      </p:sp>
    </p:spTree>
    <p:extLst>
      <p:ext uri="{BB962C8B-B14F-4D97-AF65-F5344CB8AC3E}">
        <p14:creationId xmlns:p14="http://schemas.microsoft.com/office/powerpoint/2010/main" val="37194424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8BB769-0E67-8DD5-C458-97EB34EE063B}"/>
              </a:ext>
            </a:extLst>
          </p:cNvPr>
          <p:cNvSpPr>
            <a:spLocks noGrp="1"/>
          </p:cNvSpPr>
          <p:nvPr>
            <p:ph type="title"/>
          </p:nvPr>
        </p:nvSpPr>
        <p:spPr/>
        <p:txBody>
          <a:bodyPr>
            <a:normAutofit/>
          </a:bodyPr>
          <a:lstStyle/>
          <a:p>
            <a:r>
              <a:rPr lang="mk-MK" dirty="0"/>
              <a:t>Ви благодариме на вниманието</a:t>
            </a:r>
            <a:endParaRPr lang="en-US" dirty="0"/>
          </a:p>
        </p:txBody>
      </p:sp>
      <p:sp>
        <p:nvSpPr>
          <p:cNvPr id="3" name="Content Placeholder 2">
            <a:extLst>
              <a:ext uri="{FF2B5EF4-FFF2-40B4-BE49-F238E27FC236}">
                <a16:creationId xmlns:a16="http://schemas.microsoft.com/office/drawing/2014/main" id="{E4869493-DA18-F1B6-D224-E1C63B49DDA4}"/>
              </a:ext>
            </a:extLst>
          </p:cNvPr>
          <p:cNvSpPr>
            <a:spLocks noGrp="1"/>
          </p:cNvSpPr>
          <p:nvPr>
            <p:ph idx="1"/>
          </p:nvPr>
        </p:nvSpPr>
        <p:spPr/>
        <p:txBody>
          <a:bodyPr/>
          <a:lstStyle/>
          <a:p>
            <a:r>
              <a:rPr lang="mk-MK" dirty="0"/>
              <a:t>Прашања?</a:t>
            </a:r>
            <a:endParaRPr lang="en-US" dirty="0"/>
          </a:p>
        </p:txBody>
      </p:sp>
    </p:spTree>
    <p:extLst>
      <p:ext uri="{BB962C8B-B14F-4D97-AF65-F5344CB8AC3E}">
        <p14:creationId xmlns:p14="http://schemas.microsoft.com/office/powerpoint/2010/main" val="2402654303"/>
      </p:ext>
    </p:extLst>
  </p:cSld>
  <p:clrMapOvr>
    <a:masterClrMapping/>
  </p:clrMapOvr>
</p:sld>
</file>

<file path=ppt/theme/theme1.xml><?xml version="1.0" encoding="utf-8"?>
<a:theme xmlns:a="http://schemas.openxmlformats.org/drawingml/2006/main" name="AccentBoxVTI">
  <a:themeElements>
    <a:clrScheme name="AnalogousFromDarkSeedLeftStep">
      <a:dk1>
        <a:srgbClr val="000000"/>
      </a:dk1>
      <a:lt1>
        <a:srgbClr val="FFFFFF"/>
      </a:lt1>
      <a:dk2>
        <a:srgbClr val="2F211A"/>
      </a:dk2>
      <a:lt2>
        <a:srgbClr val="F2F0F3"/>
      </a:lt2>
      <a:accent1>
        <a:srgbClr val="63B520"/>
      </a:accent1>
      <a:accent2>
        <a:srgbClr val="96AA12"/>
      </a:accent2>
      <a:accent3>
        <a:srgbClr val="C89A24"/>
      </a:accent3>
      <a:accent4>
        <a:srgbClr val="D55117"/>
      </a:accent4>
      <a:accent5>
        <a:srgbClr val="E7293F"/>
      </a:accent5>
      <a:accent6>
        <a:srgbClr val="D5177C"/>
      </a:accent6>
      <a:hlink>
        <a:srgbClr val="BF4741"/>
      </a:hlink>
      <a:folHlink>
        <a:srgbClr val="7F7F7F"/>
      </a:folHlink>
    </a:clrScheme>
    <a:fontScheme name="Avenir">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9F778A78-DC9A-453A-A82D-A75CAD503E15}" vid="{EA961113-7CC4-4569-8A6A-7BC2C1E2F40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265</TotalTime>
  <Words>615</Words>
  <Application>Microsoft Office PowerPoint</Application>
  <PresentationFormat>Widescreen</PresentationFormat>
  <Paragraphs>80</Paragraphs>
  <Slides>12</Slides>
  <Notes>0</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12</vt:i4>
      </vt:variant>
    </vt:vector>
  </HeadingPairs>
  <TitlesOfParts>
    <vt:vector size="21" baseType="lpstr">
      <vt:lpstr>Aptos</vt:lpstr>
      <vt:lpstr>Aptos Display</vt:lpstr>
      <vt:lpstr>Arial</vt:lpstr>
      <vt:lpstr>Calibri</vt:lpstr>
      <vt:lpstr>Cambria Math</vt:lpstr>
      <vt:lpstr>Inter</vt:lpstr>
      <vt:lpstr>Neue Haas Grotesk Text Pro</vt:lpstr>
      <vt:lpstr>AccentBoxVTI</vt:lpstr>
      <vt:lpstr>Office Theme</vt:lpstr>
      <vt:lpstr>АЛГОРИТМИ ЗА ПРОНАОЃАЊЕ НА ПАТИШТА И 3D ГРАФИЧКО РЕНДЕРИРАЊЕ</vt:lpstr>
      <vt:lpstr>Алгоритми за пронаоѓање на патишта</vt:lpstr>
      <vt:lpstr>Дијкстра алгоритам</vt:lpstr>
      <vt:lpstr>A* алгоритам</vt:lpstr>
      <vt:lpstr>A* алгоритам</vt:lpstr>
      <vt:lpstr>PowerPoint Presentation</vt:lpstr>
      <vt:lpstr>BFS и DFS</vt:lpstr>
      <vt:lpstr>Споредба на алгоритмите</vt:lpstr>
      <vt:lpstr>3D рендерирање</vt:lpstr>
      <vt:lpstr>Клучни техники во 3D рендерирање </vt:lpstr>
      <vt:lpstr>Идни Трендови</vt:lpstr>
      <vt:lpstr>Ви благодариме на вниманието</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Србиноски Петар</dc:creator>
  <cp:lastModifiedBy>Србиноски Петар</cp:lastModifiedBy>
  <cp:revision>5</cp:revision>
  <dcterms:created xsi:type="dcterms:W3CDTF">2024-12-19T12:39:26Z</dcterms:created>
  <dcterms:modified xsi:type="dcterms:W3CDTF">2025-02-11T12:54:00Z</dcterms:modified>
</cp:coreProperties>
</file>